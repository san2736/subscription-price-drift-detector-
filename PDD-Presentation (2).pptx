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  <p:sldMasterId id="2147483677" r:id="rId2"/>
  </p:sldMasterIdLst>
  <p:notesMasterIdLst>
    <p:notesMasterId r:id="rId19"/>
  </p:notesMasterIdLst>
  <p:sldIdLst>
    <p:sldId id="256" r:id="rId3"/>
    <p:sldId id="274" r:id="rId4"/>
    <p:sldId id="259" r:id="rId5"/>
    <p:sldId id="263" r:id="rId6"/>
    <p:sldId id="270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266" r:id="rId16"/>
    <p:sldId id="281" r:id="rId17"/>
    <p:sldId id="283" r:id="rId18"/>
  </p:sldIdLst>
  <p:sldSz cx="9144000" cy="5143500" type="screen16x9"/>
  <p:notesSz cx="6858000" cy="9144000"/>
  <p:embeddedFontLst>
    <p:embeddedFont>
      <p:font typeface="Catamaran"/>
      <p:regular r:id="rId20"/>
      <p:bold r:id="rId21"/>
    </p:embeddedFont>
    <p:embeddedFont>
      <p:font typeface="Fugaz One"/>
      <p:regular r:id="rId22"/>
    </p:embeddedFont>
    <p:embeddedFont>
      <p:font typeface="Proxima Nova" panose="02000506030000020004" pitchFamily="2" charset="0"/>
      <p:regular r:id="rId23"/>
      <p:bold r:id="rId24"/>
      <p:italic r:id="rId25"/>
      <p:boldItalic r:id="rId26"/>
    </p:embeddedFont>
    <p:embeddedFont>
      <p:font typeface="Proxima Nova Semibold" panose="02000506030000020004" pitchFamily="2" charset="0"/>
      <p:regular r:id="rId27"/>
      <p:bold r:id="rId28"/>
      <p:italic r:id="rId29"/>
      <p:boldItalic r:id="rId30"/>
    </p:embeddedFont>
    <p:embeddedFont>
      <p:font typeface="Roboto Condensed Light" panose="02000000000000000000" pitchFamily="2" charset="0"/>
      <p:regular r:id="rId31"/>
      <p: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C3BE29-11E9-468C-8C03-6C5BDF88344D}">
  <a:tblStyle styleId="{E2C3BE29-11E9-468C-8C03-6C5BDF88344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292"/>
    <p:restoredTop sz="94672"/>
  </p:normalViewPr>
  <p:slideViewPr>
    <p:cSldViewPr snapToGrid="0">
      <p:cViewPr varScale="1">
        <p:scale>
          <a:sx n="108" d="100"/>
          <a:sy n="108" d="100"/>
        </p:scale>
        <p:origin x="208" y="8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7.fntdata"/><Relationship Id="rId3" Type="http://schemas.openxmlformats.org/officeDocument/2006/relationships/slide" Target="slides/slide1.xml"/><Relationship Id="rId21" Type="http://schemas.openxmlformats.org/officeDocument/2006/relationships/font" Target="fonts/font2.fntdata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6.fntdata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111ce9dc6fa_1_7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111ce9dc6fa_1_7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11ce9dc6fa_1_7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111ce9dc6fa_1_7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bd6c00e730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bd6c00e730_0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bd6c00e730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bd6c00e730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bd6c00e730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bd6c00e730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99f2f57a71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1" name="Google Shape;1011;g99f2f57a71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572094" y="1086488"/>
            <a:ext cx="3858600" cy="17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3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572094" y="3529712"/>
            <a:ext cx="38586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689625" y="2655575"/>
            <a:ext cx="3607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856625" y="1534875"/>
            <a:ext cx="1273500" cy="841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689625" y="3408300"/>
            <a:ext cx="36075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title" idx="2"/>
          </p:nvPr>
        </p:nvSpPr>
        <p:spPr>
          <a:xfrm>
            <a:off x="1620725" y="2800350"/>
            <a:ext cx="2180100" cy="4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 b="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title" idx="3"/>
          </p:nvPr>
        </p:nvSpPr>
        <p:spPr>
          <a:xfrm>
            <a:off x="5343250" y="2800350"/>
            <a:ext cx="2180100" cy="4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 b="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1"/>
          </p:nvPr>
        </p:nvSpPr>
        <p:spPr>
          <a:xfrm>
            <a:off x="5180497" y="3266572"/>
            <a:ext cx="25056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4"/>
          </p:nvPr>
        </p:nvSpPr>
        <p:spPr>
          <a:xfrm>
            <a:off x="1457900" y="3266572"/>
            <a:ext cx="25056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905525" y="1540775"/>
            <a:ext cx="3243000" cy="27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905550" y="959188"/>
            <a:ext cx="3243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2041400" y="2607575"/>
            <a:ext cx="5061000" cy="199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3769800" y="1791723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4635600" y="2621963"/>
            <a:ext cx="3795300" cy="10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4222400" y="833750"/>
            <a:ext cx="4208400" cy="128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 hasCustomPrompt="1"/>
          </p:nvPr>
        </p:nvSpPr>
        <p:spPr>
          <a:xfrm>
            <a:off x="2516200" y="1664012"/>
            <a:ext cx="4111800" cy="11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>
            <a:spLocks noGrp="1"/>
          </p:cNvSpPr>
          <p:nvPr>
            <p:ph type="subTitle" idx="1"/>
          </p:nvPr>
        </p:nvSpPr>
        <p:spPr>
          <a:xfrm>
            <a:off x="2516200" y="3015775"/>
            <a:ext cx="41118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title" idx="2"/>
          </p:nvPr>
        </p:nvSpPr>
        <p:spPr>
          <a:xfrm>
            <a:off x="1826275" y="1669200"/>
            <a:ext cx="2463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subTitle" idx="1"/>
          </p:nvPr>
        </p:nvSpPr>
        <p:spPr>
          <a:xfrm>
            <a:off x="1826275" y="2179525"/>
            <a:ext cx="22149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title" idx="3"/>
          </p:nvPr>
        </p:nvSpPr>
        <p:spPr>
          <a:xfrm>
            <a:off x="5940175" y="1669200"/>
            <a:ext cx="2463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subTitle" idx="4"/>
          </p:nvPr>
        </p:nvSpPr>
        <p:spPr>
          <a:xfrm>
            <a:off x="5940175" y="2179525"/>
            <a:ext cx="22149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title" idx="5"/>
          </p:nvPr>
        </p:nvSpPr>
        <p:spPr>
          <a:xfrm>
            <a:off x="1826275" y="3336104"/>
            <a:ext cx="2463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subTitle" idx="6"/>
          </p:nvPr>
        </p:nvSpPr>
        <p:spPr>
          <a:xfrm>
            <a:off x="1826275" y="3846426"/>
            <a:ext cx="22149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title" idx="7"/>
          </p:nvPr>
        </p:nvSpPr>
        <p:spPr>
          <a:xfrm>
            <a:off x="5940175" y="3336103"/>
            <a:ext cx="2463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ubTitle" idx="8"/>
          </p:nvPr>
        </p:nvSpPr>
        <p:spPr>
          <a:xfrm>
            <a:off x="5940175" y="3846426"/>
            <a:ext cx="22149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title" idx="9" hasCustomPrompt="1"/>
          </p:nvPr>
        </p:nvSpPr>
        <p:spPr>
          <a:xfrm>
            <a:off x="819375" y="1902900"/>
            <a:ext cx="8055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3"/>
          <p:cNvSpPr txBox="1">
            <a:spLocks noGrp="1"/>
          </p:cNvSpPr>
          <p:nvPr>
            <p:ph type="title" idx="13" hasCustomPrompt="1"/>
          </p:nvPr>
        </p:nvSpPr>
        <p:spPr>
          <a:xfrm>
            <a:off x="819375" y="3568802"/>
            <a:ext cx="8055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 idx="14" hasCustomPrompt="1"/>
          </p:nvPr>
        </p:nvSpPr>
        <p:spPr>
          <a:xfrm>
            <a:off x="4970225" y="1902900"/>
            <a:ext cx="8055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15" hasCustomPrompt="1"/>
          </p:nvPr>
        </p:nvSpPr>
        <p:spPr>
          <a:xfrm>
            <a:off x="4970225" y="3569825"/>
            <a:ext cx="8055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2415867" y="3554200"/>
            <a:ext cx="4312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2372375" y="2272550"/>
            <a:ext cx="4399200" cy="116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CUSTOM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body" idx="1"/>
          </p:nvPr>
        </p:nvSpPr>
        <p:spPr>
          <a:xfrm>
            <a:off x="1481400" y="2779500"/>
            <a:ext cx="3243000" cy="18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1481425" y="758175"/>
            <a:ext cx="3243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title" idx="2"/>
          </p:nvPr>
        </p:nvSpPr>
        <p:spPr>
          <a:xfrm>
            <a:off x="1481425" y="1539400"/>
            <a:ext cx="3243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5121925" y="1874550"/>
            <a:ext cx="2964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subTitle" idx="1"/>
          </p:nvPr>
        </p:nvSpPr>
        <p:spPr>
          <a:xfrm>
            <a:off x="4986188" y="2447250"/>
            <a:ext cx="3235800" cy="82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_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>
            <a:spLocks noGrp="1"/>
          </p:cNvSpPr>
          <p:nvPr>
            <p:ph type="title"/>
          </p:nvPr>
        </p:nvSpPr>
        <p:spPr>
          <a:xfrm>
            <a:off x="713100" y="1381575"/>
            <a:ext cx="4032600" cy="14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subTitle" idx="1"/>
          </p:nvPr>
        </p:nvSpPr>
        <p:spPr>
          <a:xfrm>
            <a:off x="713100" y="2921313"/>
            <a:ext cx="3235800" cy="84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>
            <a:spLocks noGrp="1"/>
          </p:cNvSpPr>
          <p:nvPr>
            <p:ph type="title"/>
          </p:nvPr>
        </p:nvSpPr>
        <p:spPr>
          <a:xfrm>
            <a:off x="720075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title" idx="2"/>
          </p:nvPr>
        </p:nvSpPr>
        <p:spPr>
          <a:xfrm>
            <a:off x="1080875" y="2752825"/>
            <a:ext cx="1889100" cy="71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subTitle" idx="1"/>
          </p:nvPr>
        </p:nvSpPr>
        <p:spPr>
          <a:xfrm>
            <a:off x="937700" y="3495175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title" idx="3"/>
          </p:nvPr>
        </p:nvSpPr>
        <p:spPr>
          <a:xfrm>
            <a:off x="3627562" y="2752825"/>
            <a:ext cx="1889100" cy="71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ubTitle" idx="4"/>
          </p:nvPr>
        </p:nvSpPr>
        <p:spPr>
          <a:xfrm>
            <a:off x="3484421" y="3495175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title" idx="5"/>
          </p:nvPr>
        </p:nvSpPr>
        <p:spPr>
          <a:xfrm>
            <a:off x="6174375" y="2752825"/>
            <a:ext cx="1889100" cy="71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ubTitle" idx="6"/>
          </p:nvPr>
        </p:nvSpPr>
        <p:spPr>
          <a:xfrm>
            <a:off x="6031149" y="3495175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6_1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720075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title" idx="2"/>
          </p:nvPr>
        </p:nvSpPr>
        <p:spPr>
          <a:xfrm>
            <a:off x="937713" y="3364800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subTitle" idx="1"/>
          </p:nvPr>
        </p:nvSpPr>
        <p:spPr>
          <a:xfrm>
            <a:off x="937713" y="3892500"/>
            <a:ext cx="2175300" cy="6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title" idx="3"/>
          </p:nvPr>
        </p:nvSpPr>
        <p:spPr>
          <a:xfrm>
            <a:off x="3484438" y="3364800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subTitle" idx="4"/>
          </p:nvPr>
        </p:nvSpPr>
        <p:spPr>
          <a:xfrm>
            <a:off x="3484438" y="3892500"/>
            <a:ext cx="2175300" cy="6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title" idx="5"/>
          </p:nvPr>
        </p:nvSpPr>
        <p:spPr>
          <a:xfrm>
            <a:off x="6031138" y="3364800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subTitle" idx="6"/>
          </p:nvPr>
        </p:nvSpPr>
        <p:spPr>
          <a:xfrm>
            <a:off x="6031138" y="3892500"/>
            <a:ext cx="2175300" cy="6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title" idx="7" hasCustomPrompt="1"/>
          </p:nvPr>
        </p:nvSpPr>
        <p:spPr>
          <a:xfrm>
            <a:off x="1502013" y="2099988"/>
            <a:ext cx="1046700" cy="4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84" name="Google Shape;84;p19"/>
          <p:cNvSpPr txBox="1">
            <a:spLocks noGrp="1"/>
          </p:cNvSpPr>
          <p:nvPr>
            <p:ph type="title" idx="8" hasCustomPrompt="1"/>
          </p:nvPr>
        </p:nvSpPr>
        <p:spPr>
          <a:xfrm>
            <a:off x="4048738" y="2100063"/>
            <a:ext cx="1046700" cy="4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85" name="Google Shape;85;p19"/>
          <p:cNvSpPr txBox="1">
            <a:spLocks noGrp="1"/>
          </p:cNvSpPr>
          <p:nvPr>
            <p:ph type="title" idx="9" hasCustomPrompt="1"/>
          </p:nvPr>
        </p:nvSpPr>
        <p:spPr>
          <a:xfrm>
            <a:off x="6595438" y="2100063"/>
            <a:ext cx="1046700" cy="4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0"/>
          <p:cNvSpPr txBox="1">
            <a:spLocks noGrp="1"/>
          </p:cNvSpPr>
          <p:nvPr>
            <p:ph type="title" idx="2"/>
          </p:nvPr>
        </p:nvSpPr>
        <p:spPr>
          <a:xfrm>
            <a:off x="1498588" y="1649000"/>
            <a:ext cx="2487600" cy="4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20"/>
          <p:cNvSpPr txBox="1">
            <a:spLocks noGrp="1"/>
          </p:cNvSpPr>
          <p:nvPr>
            <p:ph type="subTitle" idx="1"/>
          </p:nvPr>
        </p:nvSpPr>
        <p:spPr>
          <a:xfrm>
            <a:off x="1498600" y="2115200"/>
            <a:ext cx="2487600" cy="7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0"/>
          <p:cNvSpPr txBox="1">
            <a:spLocks noGrp="1"/>
          </p:cNvSpPr>
          <p:nvPr>
            <p:ph type="title" idx="3"/>
          </p:nvPr>
        </p:nvSpPr>
        <p:spPr>
          <a:xfrm>
            <a:off x="5157807" y="1649000"/>
            <a:ext cx="2487600" cy="4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1" name="Google Shape;91;p20"/>
          <p:cNvSpPr txBox="1">
            <a:spLocks noGrp="1"/>
          </p:cNvSpPr>
          <p:nvPr>
            <p:ph type="subTitle" idx="4"/>
          </p:nvPr>
        </p:nvSpPr>
        <p:spPr>
          <a:xfrm>
            <a:off x="5157807" y="2115200"/>
            <a:ext cx="2487600" cy="7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title" idx="5"/>
          </p:nvPr>
        </p:nvSpPr>
        <p:spPr>
          <a:xfrm>
            <a:off x="1498588" y="3311000"/>
            <a:ext cx="2487600" cy="4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subTitle" idx="6"/>
          </p:nvPr>
        </p:nvSpPr>
        <p:spPr>
          <a:xfrm>
            <a:off x="1498600" y="3777200"/>
            <a:ext cx="2487600" cy="7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title" idx="7"/>
          </p:nvPr>
        </p:nvSpPr>
        <p:spPr>
          <a:xfrm>
            <a:off x="5157807" y="3311000"/>
            <a:ext cx="2487600" cy="4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20"/>
          <p:cNvSpPr txBox="1">
            <a:spLocks noGrp="1"/>
          </p:cNvSpPr>
          <p:nvPr>
            <p:ph type="subTitle" idx="8"/>
          </p:nvPr>
        </p:nvSpPr>
        <p:spPr>
          <a:xfrm>
            <a:off x="5157807" y="3777200"/>
            <a:ext cx="2487600" cy="7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1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1"/>
          <p:cNvSpPr txBox="1">
            <a:spLocks noGrp="1"/>
          </p:cNvSpPr>
          <p:nvPr>
            <p:ph type="title" idx="2"/>
          </p:nvPr>
        </p:nvSpPr>
        <p:spPr>
          <a:xfrm>
            <a:off x="1069450" y="1801400"/>
            <a:ext cx="1745100" cy="4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9" name="Google Shape;99;p21"/>
          <p:cNvSpPr txBox="1">
            <a:spLocks noGrp="1"/>
          </p:cNvSpPr>
          <p:nvPr>
            <p:ph type="subTitle" idx="1"/>
          </p:nvPr>
        </p:nvSpPr>
        <p:spPr>
          <a:xfrm>
            <a:off x="949000" y="2267600"/>
            <a:ext cx="198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1"/>
          <p:cNvSpPr txBox="1">
            <a:spLocks noGrp="1"/>
          </p:cNvSpPr>
          <p:nvPr>
            <p:ph type="title" idx="3"/>
          </p:nvPr>
        </p:nvSpPr>
        <p:spPr>
          <a:xfrm>
            <a:off x="3699402" y="1801400"/>
            <a:ext cx="1745100" cy="4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subTitle" idx="4"/>
          </p:nvPr>
        </p:nvSpPr>
        <p:spPr>
          <a:xfrm>
            <a:off x="3578950" y="2267600"/>
            <a:ext cx="198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title" idx="5"/>
          </p:nvPr>
        </p:nvSpPr>
        <p:spPr>
          <a:xfrm>
            <a:off x="1069450" y="3584652"/>
            <a:ext cx="1745100" cy="4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subTitle" idx="6"/>
          </p:nvPr>
        </p:nvSpPr>
        <p:spPr>
          <a:xfrm>
            <a:off x="949000" y="4050862"/>
            <a:ext cx="198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title" idx="7"/>
          </p:nvPr>
        </p:nvSpPr>
        <p:spPr>
          <a:xfrm>
            <a:off x="3699400" y="3584652"/>
            <a:ext cx="1745100" cy="4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ubTitle" idx="8"/>
          </p:nvPr>
        </p:nvSpPr>
        <p:spPr>
          <a:xfrm>
            <a:off x="3578997" y="4050862"/>
            <a:ext cx="198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1"/>
          <p:cNvSpPr txBox="1">
            <a:spLocks noGrp="1"/>
          </p:cNvSpPr>
          <p:nvPr>
            <p:ph type="title" idx="9"/>
          </p:nvPr>
        </p:nvSpPr>
        <p:spPr>
          <a:xfrm>
            <a:off x="6329350" y="1801400"/>
            <a:ext cx="1745100" cy="4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07" name="Google Shape;107;p21"/>
          <p:cNvSpPr txBox="1">
            <a:spLocks noGrp="1"/>
          </p:cNvSpPr>
          <p:nvPr>
            <p:ph type="subTitle" idx="13"/>
          </p:nvPr>
        </p:nvSpPr>
        <p:spPr>
          <a:xfrm>
            <a:off x="6208900" y="2267600"/>
            <a:ext cx="198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1"/>
          <p:cNvSpPr txBox="1">
            <a:spLocks noGrp="1"/>
          </p:cNvSpPr>
          <p:nvPr>
            <p:ph type="title" idx="14"/>
          </p:nvPr>
        </p:nvSpPr>
        <p:spPr>
          <a:xfrm>
            <a:off x="6329350" y="3584652"/>
            <a:ext cx="1745100" cy="4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subTitle" idx="15"/>
          </p:nvPr>
        </p:nvSpPr>
        <p:spPr>
          <a:xfrm>
            <a:off x="6208900" y="4050862"/>
            <a:ext cx="198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3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>
            <a:spLocks noGrp="1"/>
          </p:cNvSpPr>
          <p:nvPr>
            <p:ph type="body" idx="1"/>
          </p:nvPr>
        </p:nvSpPr>
        <p:spPr>
          <a:xfrm>
            <a:off x="4541425" y="2779500"/>
            <a:ext cx="3243000" cy="18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title"/>
          </p:nvPr>
        </p:nvSpPr>
        <p:spPr>
          <a:xfrm>
            <a:off x="4541450" y="758175"/>
            <a:ext cx="3243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22"/>
          <p:cNvSpPr txBox="1">
            <a:spLocks noGrp="1"/>
          </p:cNvSpPr>
          <p:nvPr>
            <p:ph type="title" idx="2"/>
          </p:nvPr>
        </p:nvSpPr>
        <p:spPr>
          <a:xfrm>
            <a:off x="4541450" y="1539400"/>
            <a:ext cx="3243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>
            <a:spLocks noGrp="1"/>
          </p:cNvSpPr>
          <p:nvPr>
            <p:ph type="title"/>
          </p:nvPr>
        </p:nvSpPr>
        <p:spPr>
          <a:xfrm>
            <a:off x="857375" y="660662"/>
            <a:ext cx="3146100" cy="87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subTitle" idx="1"/>
          </p:nvPr>
        </p:nvSpPr>
        <p:spPr>
          <a:xfrm>
            <a:off x="857375" y="1562487"/>
            <a:ext cx="3146100" cy="142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/>
          <p:nvPr/>
        </p:nvSpPr>
        <p:spPr>
          <a:xfrm>
            <a:off x="5902625" y="1667700"/>
            <a:ext cx="3457500" cy="29364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4"/>
          <p:cNvSpPr/>
          <p:nvPr/>
        </p:nvSpPr>
        <p:spPr>
          <a:xfrm>
            <a:off x="-415775" y="2071075"/>
            <a:ext cx="3457500" cy="29364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4"/>
          <p:cNvSpPr/>
          <p:nvPr/>
        </p:nvSpPr>
        <p:spPr>
          <a:xfrm>
            <a:off x="1216275" y="-1099550"/>
            <a:ext cx="4880700" cy="41451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4"/>
          <p:cNvSpPr/>
          <p:nvPr/>
        </p:nvSpPr>
        <p:spPr>
          <a:xfrm>
            <a:off x="2874800" y="2679400"/>
            <a:ext cx="3457500" cy="29364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/>
          <p:nvPr/>
        </p:nvSpPr>
        <p:spPr>
          <a:xfrm>
            <a:off x="5283600" y="2516100"/>
            <a:ext cx="3457500" cy="29364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5"/>
          <p:cNvSpPr/>
          <p:nvPr/>
        </p:nvSpPr>
        <p:spPr>
          <a:xfrm>
            <a:off x="4199950" y="-364650"/>
            <a:ext cx="3457500" cy="29364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5"/>
          <p:cNvSpPr/>
          <p:nvPr/>
        </p:nvSpPr>
        <p:spPr>
          <a:xfrm>
            <a:off x="-156300" y="-90275"/>
            <a:ext cx="4880700" cy="41451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2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6"/>
          <p:cNvSpPr/>
          <p:nvPr/>
        </p:nvSpPr>
        <p:spPr>
          <a:xfrm>
            <a:off x="5629888" y="935150"/>
            <a:ext cx="2977800" cy="27714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26"/>
          <p:cNvSpPr/>
          <p:nvPr/>
        </p:nvSpPr>
        <p:spPr>
          <a:xfrm>
            <a:off x="3083188" y="935150"/>
            <a:ext cx="2977800" cy="27714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6"/>
          <p:cNvSpPr/>
          <p:nvPr/>
        </p:nvSpPr>
        <p:spPr>
          <a:xfrm>
            <a:off x="536488" y="935150"/>
            <a:ext cx="2977800" cy="27714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9_3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/>
          <p:nvPr/>
        </p:nvSpPr>
        <p:spPr>
          <a:xfrm>
            <a:off x="4240375" y="476099"/>
            <a:ext cx="4624500" cy="41913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>
            <a:spLocks noGrp="1"/>
          </p:cNvSpPr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"/>
              <a:buChar char="●"/>
              <a:defRPr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"/>
              <a:buChar char="○"/>
              <a:defRPr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"/>
              <a:buChar char="■"/>
              <a:defRPr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"/>
              <a:buChar char="●"/>
              <a:defRPr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"/>
              <a:buChar char="○"/>
              <a:defRPr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"/>
              <a:buChar char="■"/>
              <a:defRPr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"/>
              <a:buChar char="●"/>
              <a:defRPr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"/>
              <a:buChar char="○"/>
              <a:defRPr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Catamaran"/>
              <a:buChar char="■"/>
              <a:defRPr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8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35" name="Google Shape;135;p28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1"/>
          <p:cNvSpPr/>
          <p:nvPr/>
        </p:nvSpPr>
        <p:spPr>
          <a:xfrm>
            <a:off x="4966500" y="867950"/>
            <a:ext cx="3069900" cy="23409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31"/>
          <p:cNvSpPr/>
          <p:nvPr/>
        </p:nvSpPr>
        <p:spPr>
          <a:xfrm>
            <a:off x="637600" y="195974"/>
            <a:ext cx="4228200" cy="40923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31"/>
          <p:cNvSpPr/>
          <p:nvPr/>
        </p:nvSpPr>
        <p:spPr>
          <a:xfrm>
            <a:off x="4865794" y="2011680"/>
            <a:ext cx="3271200" cy="4368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sz="2000" dirty="0">
                <a:solidFill>
                  <a:srgbClr val="0A0E24"/>
                </a:solidFill>
              </a:rPr>
              <a:t>AWS CLOUD PROJECT</a:t>
            </a:r>
          </a:p>
        </p:txBody>
      </p:sp>
      <p:sp>
        <p:nvSpPr>
          <p:cNvPr id="146" name="Google Shape;146;p31"/>
          <p:cNvSpPr txBox="1">
            <a:spLocks noGrp="1"/>
          </p:cNvSpPr>
          <p:nvPr>
            <p:ph type="subTitle" idx="1"/>
          </p:nvPr>
        </p:nvSpPr>
        <p:spPr>
          <a:xfrm>
            <a:off x="4521525" y="2542032"/>
            <a:ext cx="38586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2000" dirty="0"/>
              <a:t>Am I being charged correctly?</a:t>
            </a:r>
            <a:endParaRPr dirty="0"/>
          </a:p>
        </p:txBody>
      </p:sp>
      <p:pic>
        <p:nvPicPr>
          <p:cNvPr id="150" name="Google Shape;15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875" y="764750"/>
            <a:ext cx="3003401" cy="361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31"/>
          <p:cNvSpPr txBox="1">
            <a:spLocks noGrp="1"/>
          </p:cNvSpPr>
          <p:nvPr>
            <p:ph type="ctrTitle"/>
          </p:nvPr>
        </p:nvSpPr>
        <p:spPr>
          <a:xfrm>
            <a:off x="4572094" y="365760"/>
            <a:ext cx="3858600" cy="15544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4400" dirty="0">
                <a:solidFill>
                  <a:schemeClr val="lt1"/>
                </a:solidFill>
              </a:rPr>
              <a:t>PRICE DRIFT DETECTOR</a:t>
            </a:r>
            <a:endParaRPr sz="6000" dirty="0">
              <a:solidFill>
                <a:schemeClr val="dk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9FE461-8E59-9565-A220-5DAE1B98B3BD}"/>
              </a:ext>
            </a:extLst>
          </p:cNvPr>
          <p:cNvSpPr txBox="1"/>
          <p:nvPr/>
        </p:nvSpPr>
        <p:spPr>
          <a:xfrm>
            <a:off x="4215384" y="306324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5EE6C9"/>
                </a:solidFill>
                <a:latin typeface="Catamaran"/>
                <a:sym typeface="Catamaran"/>
              </a:rPr>
              <a:t>Presented By: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-US" sz="1700" dirty="0">
                <a:solidFill>
                  <a:schemeClr val="bg1"/>
                </a:solidFill>
                <a:latin typeface="Catamaran"/>
                <a:sym typeface="Catamaran"/>
              </a:rPr>
              <a:t>Alisha Rao E016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-US" sz="1700" dirty="0">
                <a:solidFill>
                  <a:schemeClr val="bg1"/>
                </a:solidFill>
                <a:latin typeface="Catamaran"/>
                <a:sym typeface="Catamaran"/>
              </a:rPr>
              <a:t>Sanaz Katpitia E020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-US" sz="1700" dirty="0">
                <a:solidFill>
                  <a:schemeClr val="bg1"/>
                </a:solidFill>
                <a:latin typeface="Catamaran"/>
                <a:sym typeface="Catamaran"/>
              </a:rPr>
              <a:t>Snigdha Mishra E036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49"/>
          <p:cNvSpPr/>
          <p:nvPr/>
        </p:nvSpPr>
        <p:spPr>
          <a:xfrm>
            <a:off x="4146222" y="652500"/>
            <a:ext cx="4519500" cy="38385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49"/>
          <p:cNvSpPr/>
          <p:nvPr/>
        </p:nvSpPr>
        <p:spPr>
          <a:xfrm>
            <a:off x="804950" y="1035325"/>
            <a:ext cx="3401400" cy="4848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49"/>
          <p:cNvSpPr txBox="1">
            <a:spLocks noGrp="1"/>
          </p:cNvSpPr>
          <p:nvPr>
            <p:ph type="body" idx="1"/>
          </p:nvPr>
        </p:nvSpPr>
        <p:spPr>
          <a:xfrm>
            <a:off x="905525" y="1540775"/>
            <a:ext cx="3429000" cy="29260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sz="2000"/>
              <a:t>Subscription prices change quietly</a:t>
            </a:r>
            <a:endParaRPr/>
          </a:p>
          <a:p>
            <a:pPr marL="256032" lvl="0" indent="-201168" algn="l" rtl="0">
              <a:spcBef>
                <a:spcPts val="0"/>
              </a:spcBef>
              <a:spcAft>
                <a:spcPts val="800"/>
              </a:spcAft>
              <a:buChar char="•"/>
            </a:pPr>
            <a:r>
              <a:rPr lang="en" sz="1800"/>
              <a:t>No clear notice before a hike</a:t>
            </a:r>
            <a:endParaRPr/>
          </a:p>
          <a:p>
            <a:pPr marL="256032" lvl="0" indent="-201168" algn="l" rtl="0">
              <a:spcBef>
                <a:spcPts val="0"/>
              </a:spcBef>
              <a:spcAft>
                <a:spcPts val="800"/>
              </a:spcAft>
              <a:buChar char="•"/>
            </a:pPr>
            <a:r>
              <a:rPr lang="en" sz="1800"/>
              <a:t>Same price, smaller plan</a:t>
            </a:r>
            <a:endParaRPr/>
          </a:p>
          <a:p>
            <a:pPr marL="256032" lvl="0" indent="-201168" algn="l" rtl="0">
              <a:spcBef>
                <a:spcPts val="0"/>
              </a:spcBef>
              <a:spcAft>
                <a:spcPts val="800"/>
              </a:spcAft>
              <a:buChar char="•"/>
            </a:pPr>
            <a:r>
              <a:rPr lang="en" sz="1800"/>
              <a:t>Too many services to track by hand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sz="2000">
                <a:solidFill>
                  <a:srgbClr val="5EE6C9"/>
                </a:solidFill>
              </a:rPr>
              <a:t>We built an automatic watchdog</a:t>
            </a:r>
            <a:endParaRPr/>
          </a:p>
        </p:txBody>
      </p:sp>
      <p:pic>
        <p:nvPicPr>
          <p:cNvPr id="738" name="Google Shape;73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661582" y="1432425"/>
            <a:ext cx="3437593" cy="2438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9" name="Google Shape;739;p49"/>
          <p:cNvGrpSpPr/>
          <p:nvPr/>
        </p:nvGrpSpPr>
        <p:grpSpPr>
          <a:xfrm>
            <a:off x="405288" y="1277775"/>
            <a:ext cx="399600" cy="3156450"/>
            <a:chOff x="5816800" y="2809875"/>
            <a:chExt cx="399600" cy="3156450"/>
          </a:xfrm>
        </p:grpSpPr>
        <p:sp>
          <p:nvSpPr>
            <p:cNvPr id="740" name="Google Shape;740;p49"/>
            <p:cNvSpPr/>
            <p:nvPr/>
          </p:nvSpPr>
          <p:spPr>
            <a:xfrm>
              <a:off x="5816800" y="5896425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41" name="Google Shape;741;p49"/>
            <p:cNvCxnSpPr>
              <a:stCxn id="740" idx="2"/>
              <a:endCxn id="736" idx="1"/>
            </p:cNvCxnSpPr>
            <p:nvPr/>
          </p:nvCxnSpPr>
          <p:spPr>
            <a:xfrm rot="10800000" flipH="1">
              <a:off x="5816800" y="2809875"/>
              <a:ext cx="399600" cy="3121500"/>
            </a:xfrm>
            <a:prstGeom prst="bentConnector3">
              <a:avLst>
                <a:gd name="adj1" fmla="val -59591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42" name="Google Shape;742;p49"/>
          <p:cNvSpPr txBox="1">
            <a:spLocks noGrp="1"/>
          </p:cNvSpPr>
          <p:nvPr>
            <p:ph type="title"/>
          </p:nvPr>
        </p:nvSpPr>
        <p:spPr>
          <a:xfrm>
            <a:off x="905550" y="959188"/>
            <a:ext cx="3243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" sz="2400">
                <a:solidFill>
                  <a:schemeClr val="dk1"/>
                </a:solidFill>
              </a:rPr>
              <a:t>THE PROBLEM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4"/>
          <p:cNvSpPr/>
          <p:nvPr/>
        </p:nvSpPr>
        <p:spPr>
          <a:xfrm>
            <a:off x="403325" y="792950"/>
            <a:ext cx="3961200" cy="35577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34"/>
          <p:cNvSpPr txBox="1">
            <a:spLocks noGrp="1"/>
          </p:cNvSpPr>
          <p:nvPr>
            <p:ph type="subTitle" idx="1"/>
          </p:nvPr>
        </p:nvSpPr>
        <p:spPr>
          <a:xfrm>
            <a:off x="4206240" y="2606040"/>
            <a:ext cx="4224528" cy="17373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</a:pPr>
            <a:r>
              <a:rPr lang="en" sz="1900"/>
              <a:t>Every day, AWS scrapes subscription prices, stores the history, flags stealth hikes and emails us. A live dashboard shows it all.</a:t>
            </a:r>
            <a:endParaRPr/>
          </a:p>
        </p:txBody>
      </p:sp>
      <p:pic>
        <p:nvPicPr>
          <p:cNvPr id="222" name="Google Shape;22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050" y="766550"/>
            <a:ext cx="1938850" cy="3610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3" name="Google Shape;223;p34"/>
          <p:cNvCxnSpPr>
            <a:stCxn id="224" idx="3"/>
            <a:endCxn id="221" idx="3"/>
          </p:cNvCxnSpPr>
          <p:nvPr/>
        </p:nvCxnSpPr>
        <p:spPr>
          <a:xfrm>
            <a:off x="8430900" y="2212623"/>
            <a:ext cx="600" cy="927900"/>
          </a:xfrm>
          <a:prstGeom prst="bentConnector3">
            <a:avLst>
              <a:gd name="adj1" fmla="val 396875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25" name="Google Shape;225;p34"/>
          <p:cNvGrpSpPr/>
          <p:nvPr/>
        </p:nvGrpSpPr>
        <p:grpSpPr>
          <a:xfrm>
            <a:off x="4075731" y="1484138"/>
            <a:ext cx="2024619" cy="307586"/>
            <a:chOff x="4075731" y="1234875"/>
            <a:chExt cx="2024619" cy="307586"/>
          </a:xfrm>
        </p:grpSpPr>
        <p:sp>
          <p:nvSpPr>
            <p:cNvPr id="226" name="Google Shape;226;p34"/>
            <p:cNvSpPr/>
            <p:nvPr/>
          </p:nvSpPr>
          <p:spPr>
            <a:xfrm>
              <a:off x="4075731" y="1234875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27" name="Google Shape;227;p34"/>
            <p:cNvCxnSpPr>
              <a:stCxn id="224" idx="0"/>
              <a:endCxn id="226" idx="6"/>
            </p:cNvCxnSpPr>
            <p:nvPr/>
          </p:nvCxnSpPr>
          <p:spPr>
            <a:xfrm rot="5400000" flipH="1">
              <a:off x="4986600" y="428711"/>
              <a:ext cx="272700" cy="1954800"/>
            </a:xfrm>
            <a:prstGeom prst="bentConnector2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4" name="Google Shape;224;p34"/>
          <p:cNvSpPr txBox="1">
            <a:spLocks noGrp="1"/>
          </p:cNvSpPr>
          <p:nvPr>
            <p:ph type="title"/>
          </p:nvPr>
        </p:nvSpPr>
        <p:spPr>
          <a:xfrm>
            <a:off x="3769800" y="1791723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</a:pPr>
            <a:r>
              <a:rPr lang="en" sz="4000"/>
              <a:t>INTRODUCTION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8"/>
          <p:cNvSpPr/>
          <p:nvPr/>
        </p:nvSpPr>
        <p:spPr>
          <a:xfrm>
            <a:off x="1052325" y="1963612"/>
            <a:ext cx="1818300" cy="13326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38"/>
          <p:cNvSpPr/>
          <p:nvPr/>
        </p:nvSpPr>
        <p:spPr>
          <a:xfrm>
            <a:off x="576350" y="617847"/>
            <a:ext cx="7991400" cy="4848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38"/>
          <p:cNvSpPr txBox="1"/>
          <p:nvPr/>
        </p:nvSpPr>
        <p:spPr>
          <a:xfrm>
            <a:off x="801715" y="3191750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17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Scrape 6 services daily into S3</a:t>
            </a:r>
            <a:endParaRPr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304" name="Google Shape;304;p38"/>
          <p:cNvSpPr txBox="1"/>
          <p:nvPr/>
        </p:nvSpPr>
        <p:spPr>
          <a:xfrm>
            <a:off x="938875" y="2190712"/>
            <a:ext cx="20451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2400">
                <a:solidFill>
                  <a:schemeClr val="lt1"/>
                </a:solidFill>
                <a:latin typeface="Fugaz One"/>
                <a:ea typeface="Fugaz One"/>
                <a:cs typeface="Fugaz One"/>
                <a:sym typeface="Fugaz One"/>
              </a:rPr>
              <a:t>COLLECT</a:t>
            </a:r>
            <a:endParaRPr sz="2500">
              <a:solidFill>
                <a:schemeClr val="lt1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sp>
        <p:nvSpPr>
          <p:cNvPr id="305" name="Google Shape;305;p38"/>
          <p:cNvSpPr/>
          <p:nvPr/>
        </p:nvSpPr>
        <p:spPr>
          <a:xfrm>
            <a:off x="1827175" y="2817437"/>
            <a:ext cx="268500" cy="2685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38"/>
          <p:cNvSpPr/>
          <p:nvPr/>
        </p:nvSpPr>
        <p:spPr>
          <a:xfrm>
            <a:off x="3662900" y="1963612"/>
            <a:ext cx="1818300" cy="13326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38"/>
          <p:cNvSpPr txBox="1"/>
          <p:nvPr/>
        </p:nvSpPr>
        <p:spPr>
          <a:xfrm>
            <a:off x="3412290" y="3191750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17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Load every file into DynamoDB</a:t>
            </a:r>
            <a:endParaRPr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308" name="Google Shape;308;p38"/>
          <p:cNvSpPr txBox="1"/>
          <p:nvPr/>
        </p:nvSpPr>
        <p:spPr>
          <a:xfrm>
            <a:off x="3549450" y="2190712"/>
            <a:ext cx="20451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2400">
                <a:solidFill>
                  <a:schemeClr val="lt1"/>
                </a:solidFill>
                <a:latin typeface="Fugaz One"/>
                <a:ea typeface="Fugaz One"/>
                <a:cs typeface="Fugaz One"/>
                <a:sym typeface="Fugaz One"/>
              </a:rPr>
              <a:t>STORE</a:t>
            </a:r>
            <a:endParaRPr sz="2500">
              <a:solidFill>
                <a:schemeClr val="lt1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sp>
        <p:nvSpPr>
          <p:cNvPr id="309" name="Google Shape;309;p38"/>
          <p:cNvSpPr/>
          <p:nvPr/>
        </p:nvSpPr>
        <p:spPr>
          <a:xfrm>
            <a:off x="4437750" y="2817437"/>
            <a:ext cx="268500" cy="2685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38"/>
          <p:cNvSpPr/>
          <p:nvPr/>
        </p:nvSpPr>
        <p:spPr>
          <a:xfrm>
            <a:off x="6273475" y="1963612"/>
            <a:ext cx="1818300" cy="13326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38"/>
          <p:cNvSpPr txBox="1"/>
          <p:nvPr/>
        </p:nvSpPr>
        <p:spPr>
          <a:xfrm>
            <a:off x="6022865" y="3191750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17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Flag hikes, email, dashboard</a:t>
            </a:r>
            <a:endParaRPr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312" name="Google Shape;312;p38"/>
          <p:cNvSpPr txBox="1"/>
          <p:nvPr/>
        </p:nvSpPr>
        <p:spPr>
          <a:xfrm>
            <a:off x="6160025" y="2190712"/>
            <a:ext cx="20451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2400">
                <a:solidFill>
                  <a:schemeClr val="lt1"/>
                </a:solidFill>
                <a:latin typeface="Fugaz One"/>
                <a:ea typeface="Fugaz One"/>
                <a:cs typeface="Fugaz One"/>
                <a:sym typeface="Fugaz One"/>
              </a:rPr>
              <a:t>DETECT</a:t>
            </a:r>
            <a:endParaRPr sz="2500">
              <a:solidFill>
                <a:schemeClr val="lt1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sp>
        <p:nvSpPr>
          <p:cNvPr id="313" name="Google Shape;313;p38"/>
          <p:cNvSpPr/>
          <p:nvPr/>
        </p:nvSpPr>
        <p:spPr>
          <a:xfrm>
            <a:off x="7048325" y="2817437"/>
            <a:ext cx="268500" cy="2685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14" name="Google Shape;314;p38"/>
          <p:cNvCxnSpPr>
            <a:stCxn id="305" idx="1"/>
          </p:cNvCxnSpPr>
          <p:nvPr/>
        </p:nvCxnSpPr>
        <p:spPr>
          <a:xfrm rot="10800000">
            <a:off x="945775" y="2951687"/>
            <a:ext cx="881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5" name="Google Shape;315;p38"/>
          <p:cNvCxnSpPr>
            <a:endCxn id="309" idx="1"/>
          </p:cNvCxnSpPr>
          <p:nvPr/>
        </p:nvCxnSpPr>
        <p:spPr>
          <a:xfrm>
            <a:off x="2095650" y="2951687"/>
            <a:ext cx="2342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6" name="Google Shape;316;p38"/>
          <p:cNvCxnSpPr>
            <a:stCxn id="309" idx="3"/>
            <a:endCxn id="313" idx="1"/>
          </p:cNvCxnSpPr>
          <p:nvPr/>
        </p:nvCxnSpPr>
        <p:spPr>
          <a:xfrm>
            <a:off x="4706250" y="2951687"/>
            <a:ext cx="2342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7" name="Google Shape;317;p38"/>
          <p:cNvCxnSpPr>
            <a:endCxn id="313" idx="3"/>
          </p:cNvCxnSpPr>
          <p:nvPr/>
        </p:nvCxnSpPr>
        <p:spPr>
          <a:xfrm rot="10800000">
            <a:off x="7316825" y="2951687"/>
            <a:ext cx="881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18" name="Google Shape;318;p38"/>
          <p:cNvGrpSpPr/>
          <p:nvPr/>
        </p:nvGrpSpPr>
        <p:grpSpPr>
          <a:xfrm>
            <a:off x="405288" y="860200"/>
            <a:ext cx="171000" cy="1668450"/>
            <a:chOff x="5816800" y="2392300"/>
            <a:chExt cx="171000" cy="1668450"/>
          </a:xfrm>
        </p:grpSpPr>
        <p:sp>
          <p:nvSpPr>
            <p:cNvPr id="319" name="Google Shape;319;p38"/>
            <p:cNvSpPr/>
            <p:nvPr/>
          </p:nvSpPr>
          <p:spPr>
            <a:xfrm>
              <a:off x="5816800" y="3990850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20" name="Google Shape;320;p38"/>
            <p:cNvCxnSpPr>
              <a:stCxn id="319" idx="2"/>
              <a:endCxn id="302" idx="1"/>
            </p:cNvCxnSpPr>
            <p:nvPr/>
          </p:nvCxnSpPr>
          <p:spPr>
            <a:xfrm rot="10800000" flipH="1">
              <a:off x="5816800" y="2392300"/>
              <a:ext cx="171000" cy="1633500"/>
            </a:xfrm>
            <a:prstGeom prst="bentConnector3">
              <a:avLst>
                <a:gd name="adj1" fmla="val -139254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21" name="Google Shape;321;p38"/>
          <p:cNvGrpSpPr/>
          <p:nvPr/>
        </p:nvGrpSpPr>
        <p:grpSpPr>
          <a:xfrm flipH="1">
            <a:off x="8567798" y="860200"/>
            <a:ext cx="171000" cy="1598550"/>
            <a:chOff x="5816800" y="2392300"/>
            <a:chExt cx="171000" cy="1598550"/>
          </a:xfrm>
        </p:grpSpPr>
        <p:sp>
          <p:nvSpPr>
            <p:cNvPr id="322" name="Google Shape;322;p38"/>
            <p:cNvSpPr/>
            <p:nvPr/>
          </p:nvSpPr>
          <p:spPr>
            <a:xfrm>
              <a:off x="5816800" y="3920950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23" name="Google Shape;323;p38"/>
            <p:cNvCxnSpPr>
              <a:stCxn id="322" idx="2"/>
              <a:endCxn id="302" idx="3"/>
            </p:cNvCxnSpPr>
            <p:nvPr/>
          </p:nvCxnSpPr>
          <p:spPr>
            <a:xfrm rot="10800000" flipH="1">
              <a:off x="5816800" y="2392300"/>
              <a:ext cx="171000" cy="1563600"/>
            </a:xfrm>
            <a:prstGeom prst="bentConnector3">
              <a:avLst>
                <a:gd name="adj1" fmla="val -139254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324" name="Google Shape;324;p38"/>
          <p:cNvCxnSpPr>
            <a:stCxn id="303" idx="2"/>
            <a:endCxn id="325" idx="0"/>
          </p:cNvCxnSpPr>
          <p:nvPr/>
        </p:nvCxnSpPr>
        <p:spPr>
          <a:xfrm rot="-5400000" flipH="1">
            <a:off x="1788925" y="4118150"/>
            <a:ext cx="345600" cy="600"/>
          </a:xfrm>
          <a:prstGeom prst="bentConnector3">
            <a:avLst>
              <a:gd name="adj1" fmla="val 50011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6" name="Google Shape;326;p38"/>
          <p:cNvCxnSpPr>
            <a:stCxn id="307" idx="2"/>
            <a:endCxn id="327" idx="0"/>
          </p:cNvCxnSpPr>
          <p:nvPr/>
        </p:nvCxnSpPr>
        <p:spPr>
          <a:xfrm rot="-5400000" flipH="1">
            <a:off x="4399500" y="4118150"/>
            <a:ext cx="345600" cy="600"/>
          </a:xfrm>
          <a:prstGeom prst="bentConnector3">
            <a:avLst>
              <a:gd name="adj1" fmla="val 50011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5" name="Google Shape;325;p38"/>
          <p:cNvSpPr/>
          <p:nvPr/>
        </p:nvSpPr>
        <p:spPr>
          <a:xfrm>
            <a:off x="1926513" y="4291325"/>
            <a:ext cx="69900" cy="69900"/>
          </a:xfrm>
          <a:prstGeom prst="ellipse">
            <a:avLst/>
          </a:prstGeom>
          <a:gradFill>
            <a:gsLst>
              <a:gs pos="0">
                <a:srgbClr val="82BCFE"/>
              </a:gs>
              <a:gs pos="100000">
                <a:srgbClr val="0C77F1"/>
              </a:gs>
            </a:gsLst>
            <a:lin ang="5400012" scaled="0"/>
          </a:gra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38"/>
          <p:cNvSpPr/>
          <p:nvPr/>
        </p:nvSpPr>
        <p:spPr>
          <a:xfrm>
            <a:off x="4537088" y="4291325"/>
            <a:ext cx="69900" cy="69900"/>
          </a:xfrm>
          <a:prstGeom prst="ellipse">
            <a:avLst/>
          </a:prstGeom>
          <a:gradFill>
            <a:gsLst>
              <a:gs pos="0">
                <a:srgbClr val="82BCFE"/>
              </a:gs>
              <a:gs pos="100000">
                <a:srgbClr val="0C77F1"/>
              </a:gs>
            </a:gsLst>
            <a:lin ang="5400012" scaled="0"/>
          </a:gra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38"/>
          <p:cNvSpPr/>
          <p:nvPr/>
        </p:nvSpPr>
        <p:spPr>
          <a:xfrm>
            <a:off x="7147663" y="4291325"/>
            <a:ext cx="69900" cy="69900"/>
          </a:xfrm>
          <a:prstGeom prst="ellipse">
            <a:avLst/>
          </a:prstGeom>
          <a:gradFill>
            <a:gsLst>
              <a:gs pos="0">
                <a:srgbClr val="82BCFE"/>
              </a:gs>
              <a:gs pos="100000">
                <a:srgbClr val="0C77F1"/>
              </a:gs>
            </a:gsLst>
            <a:lin ang="5400012" scaled="0"/>
          </a:gra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29" name="Google Shape;329;p38"/>
          <p:cNvCxnSpPr>
            <a:stCxn id="325" idx="6"/>
            <a:endCxn id="327" idx="2"/>
          </p:cNvCxnSpPr>
          <p:nvPr/>
        </p:nvCxnSpPr>
        <p:spPr>
          <a:xfrm>
            <a:off x="1996413" y="4326275"/>
            <a:ext cx="25407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0" name="Google Shape;330;p38"/>
          <p:cNvCxnSpPr>
            <a:stCxn id="311" idx="2"/>
            <a:endCxn id="328" idx="0"/>
          </p:cNvCxnSpPr>
          <p:nvPr/>
        </p:nvCxnSpPr>
        <p:spPr>
          <a:xfrm rot="-5400000" flipH="1">
            <a:off x="7010075" y="4118150"/>
            <a:ext cx="345600" cy="600"/>
          </a:xfrm>
          <a:prstGeom prst="bentConnector3">
            <a:avLst>
              <a:gd name="adj1" fmla="val 50011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1" name="Google Shape;331;p38"/>
          <p:cNvCxnSpPr>
            <a:stCxn id="327" idx="6"/>
            <a:endCxn id="328" idx="2"/>
          </p:cNvCxnSpPr>
          <p:nvPr/>
        </p:nvCxnSpPr>
        <p:spPr>
          <a:xfrm>
            <a:off x="4606988" y="4326275"/>
            <a:ext cx="25407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2" name="Google Shape;332;p38"/>
          <p:cNvCxnSpPr>
            <a:stCxn id="304" idx="0"/>
            <a:endCxn id="308" idx="0"/>
          </p:cNvCxnSpPr>
          <p:nvPr/>
        </p:nvCxnSpPr>
        <p:spPr>
          <a:xfrm rot="-5400000" flipH="1">
            <a:off x="3266425" y="885712"/>
            <a:ext cx="600" cy="2610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3" name="Google Shape;333;p38"/>
          <p:cNvCxnSpPr>
            <a:stCxn id="308" idx="0"/>
            <a:endCxn id="312" idx="0"/>
          </p:cNvCxnSpPr>
          <p:nvPr/>
        </p:nvCxnSpPr>
        <p:spPr>
          <a:xfrm rot="-5400000" flipH="1">
            <a:off x="5877000" y="885712"/>
            <a:ext cx="600" cy="2610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4" name="Google Shape;334;p38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2600">
                <a:solidFill>
                  <a:schemeClr val="dk1"/>
                </a:solidFill>
              </a:rPr>
              <a:t>HOW IT WORKS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5"/>
          <p:cNvSpPr/>
          <p:nvPr/>
        </p:nvSpPr>
        <p:spPr>
          <a:xfrm>
            <a:off x="3699400" y="3119187"/>
            <a:ext cx="1745100" cy="12789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45"/>
          <p:cNvSpPr/>
          <p:nvPr/>
        </p:nvSpPr>
        <p:spPr>
          <a:xfrm>
            <a:off x="6329350" y="3119187"/>
            <a:ext cx="1745100" cy="12789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45"/>
          <p:cNvSpPr/>
          <p:nvPr/>
        </p:nvSpPr>
        <p:spPr>
          <a:xfrm>
            <a:off x="1069450" y="3119187"/>
            <a:ext cx="1745100" cy="12789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45"/>
          <p:cNvSpPr/>
          <p:nvPr/>
        </p:nvSpPr>
        <p:spPr>
          <a:xfrm>
            <a:off x="3699400" y="1335900"/>
            <a:ext cx="1745100" cy="12789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45"/>
          <p:cNvSpPr/>
          <p:nvPr/>
        </p:nvSpPr>
        <p:spPr>
          <a:xfrm>
            <a:off x="6329350" y="1335900"/>
            <a:ext cx="1745100" cy="12789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45"/>
          <p:cNvSpPr/>
          <p:nvPr/>
        </p:nvSpPr>
        <p:spPr>
          <a:xfrm>
            <a:off x="576350" y="617847"/>
            <a:ext cx="7991400" cy="4848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45"/>
          <p:cNvSpPr/>
          <p:nvPr/>
        </p:nvSpPr>
        <p:spPr>
          <a:xfrm>
            <a:off x="1069450" y="1335900"/>
            <a:ext cx="1745100" cy="12789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45"/>
          <p:cNvSpPr txBox="1">
            <a:spLocks noGrp="1"/>
          </p:cNvSpPr>
          <p:nvPr>
            <p:ph type="subTitle" idx="13"/>
          </p:nvPr>
        </p:nvSpPr>
        <p:spPr>
          <a:xfrm>
            <a:off x="6208900" y="2267600"/>
            <a:ext cx="198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1600"/>
              <a:t>Daily schedule</a:t>
            </a:r>
            <a:endParaRPr/>
          </a:p>
        </p:txBody>
      </p:sp>
      <p:sp>
        <p:nvSpPr>
          <p:cNvPr id="579" name="Google Shape;579;p45"/>
          <p:cNvSpPr txBox="1">
            <a:spLocks noGrp="1"/>
          </p:cNvSpPr>
          <p:nvPr>
            <p:ph type="subTitle" idx="15"/>
          </p:nvPr>
        </p:nvSpPr>
        <p:spPr>
          <a:xfrm>
            <a:off x="6208900" y="4050862"/>
            <a:ext cx="198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1600"/>
              <a:t>Email alerts</a:t>
            </a:r>
            <a:endParaRPr/>
          </a:p>
        </p:txBody>
      </p:sp>
      <p:sp>
        <p:nvSpPr>
          <p:cNvPr id="580" name="Google Shape;580;p45"/>
          <p:cNvSpPr txBox="1">
            <a:spLocks noGrp="1"/>
          </p:cNvSpPr>
          <p:nvPr>
            <p:ph type="title" idx="9"/>
          </p:nvPr>
        </p:nvSpPr>
        <p:spPr>
          <a:xfrm>
            <a:off x="6329350" y="1801400"/>
            <a:ext cx="1745100" cy="4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2000"/>
              <a:t>EventBridge</a:t>
            </a:r>
            <a:endParaRPr/>
          </a:p>
        </p:txBody>
      </p:sp>
      <p:sp>
        <p:nvSpPr>
          <p:cNvPr id="581" name="Google Shape;581;p45"/>
          <p:cNvSpPr txBox="1">
            <a:spLocks noGrp="1"/>
          </p:cNvSpPr>
          <p:nvPr>
            <p:ph type="title" idx="14"/>
          </p:nvPr>
        </p:nvSpPr>
        <p:spPr>
          <a:xfrm>
            <a:off x="6329350" y="3584652"/>
            <a:ext cx="1745100" cy="4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2000"/>
              <a:t>SNS</a:t>
            </a:r>
            <a:endParaRPr/>
          </a:p>
        </p:txBody>
      </p:sp>
      <p:sp>
        <p:nvSpPr>
          <p:cNvPr id="582" name="Google Shape;582;p45"/>
          <p:cNvSpPr txBox="1">
            <a:spLocks noGrp="1"/>
          </p:cNvSpPr>
          <p:nvPr>
            <p:ph type="title" idx="2"/>
          </p:nvPr>
        </p:nvSpPr>
        <p:spPr>
          <a:xfrm>
            <a:off x="1069450" y="1801400"/>
            <a:ext cx="1745100" cy="4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2000"/>
              <a:t>S3</a:t>
            </a:r>
            <a:endParaRPr/>
          </a:p>
        </p:txBody>
      </p:sp>
      <p:sp>
        <p:nvSpPr>
          <p:cNvPr id="583" name="Google Shape;583;p45"/>
          <p:cNvSpPr txBox="1">
            <a:spLocks noGrp="1"/>
          </p:cNvSpPr>
          <p:nvPr>
            <p:ph type="subTitle" idx="1"/>
          </p:nvPr>
        </p:nvSpPr>
        <p:spPr>
          <a:xfrm>
            <a:off x="949000" y="2267600"/>
            <a:ext cx="198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1600"/>
              <a:t>Storage</a:t>
            </a:r>
            <a:endParaRPr/>
          </a:p>
        </p:txBody>
      </p:sp>
      <p:sp>
        <p:nvSpPr>
          <p:cNvPr id="584" name="Google Shape;584;p45"/>
          <p:cNvSpPr txBox="1">
            <a:spLocks noGrp="1"/>
          </p:cNvSpPr>
          <p:nvPr>
            <p:ph type="title" idx="3"/>
          </p:nvPr>
        </p:nvSpPr>
        <p:spPr>
          <a:xfrm>
            <a:off x="3699402" y="1801400"/>
            <a:ext cx="1745100" cy="4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2000"/>
              <a:t>Lambda</a:t>
            </a:r>
            <a:endParaRPr/>
          </a:p>
        </p:txBody>
      </p:sp>
      <p:sp>
        <p:nvSpPr>
          <p:cNvPr id="585" name="Google Shape;585;p45"/>
          <p:cNvSpPr txBox="1">
            <a:spLocks noGrp="1"/>
          </p:cNvSpPr>
          <p:nvPr>
            <p:ph type="subTitle" idx="4"/>
          </p:nvPr>
        </p:nvSpPr>
        <p:spPr>
          <a:xfrm>
            <a:off x="3578950" y="2267600"/>
            <a:ext cx="198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1600"/>
              <a:t>All the code</a:t>
            </a:r>
            <a:endParaRPr/>
          </a:p>
        </p:txBody>
      </p:sp>
      <p:sp>
        <p:nvSpPr>
          <p:cNvPr id="586" name="Google Shape;586;p45"/>
          <p:cNvSpPr txBox="1">
            <a:spLocks noGrp="1"/>
          </p:cNvSpPr>
          <p:nvPr>
            <p:ph type="title" idx="5"/>
          </p:nvPr>
        </p:nvSpPr>
        <p:spPr>
          <a:xfrm>
            <a:off x="1069450" y="3584652"/>
            <a:ext cx="1745100" cy="4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2000"/>
              <a:t>DynamoDB</a:t>
            </a:r>
            <a:endParaRPr/>
          </a:p>
        </p:txBody>
      </p:sp>
      <p:sp>
        <p:nvSpPr>
          <p:cNvPr id="587" name="Google Shape;587;p45"/>
          <p:cNvSpPr txBox="1">
            <a:spLocks noGrp="1"/>
          </p:cNvSpPr>
          <p:nvPr>
            <p:ph type="subTitle" idx="6"/>
          </p:nvPr>
        </p:nvSpPr>
        <p:spPr>
          <a:xfrm>
            <a:off x="949000" y="4050862"/>
            <a:ext cx="198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1600"/>
              <a:t>Price + alert tables</a:t>
            </a:r>
            <a:endParaRPr/>
          </a:p>
        </p:txBody>
      </p:sp>
      <p:sp>
        <p:nvSpPr>
          <p:cNvPr id="588" name="Google Shape;588;p45"/>
          <p:cNvSpPr txBox="1">
            <a:spLocks noGrp="1"/>
          </p:cNvSpPr>
          <p:nvPr>
            <p:ph type="title" idx="7"/>
          </p:nvPr>
        </p:nvSpPr>
        <p:spPr>
          <a:xfrm>
            <a:off x="3699400" y="3584652"/>
            <a:ext cx="1745100" cy="4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2000"/>
              <a:t>Athena</a:t>
            </a:r>
            <a:endParaRPr/>
          </a:p>
        </p:txBody>
      </p:sp>
      <p:sp>
        <p:nvSpPr>
          <p:cNvPr id="589" name="Google Shape;589;p45"/>
          <p:cNvSpPr txBox="1">
            <a:spLocks noGrp="1"/>
          </p:cNvSpPr>
          <p:nvPr>
            <p:ph type="subTitle" idx="8"/>
          </p:nvPr>
        </p:nvSpPr>
        <p:spPr>
          <a:xfrm>
            <a:off x="3578997" y="4050862"/>
            <a:ext cx="198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1600"/>
              <a:t>SQL analysis</a:t>
            </a:r>
            <a:endParaRPr/>
          </a:p>
        </p:txBody>
      </p:sp>
      <p:sp>
        <p:nvSpPr>
          <p:cNvPr id="590" name="Google Shape;590;p45"/>
          <p:cNvSpPr/>
          <p:nvPr/>
        </p:nvSpPr>
        <p:spPr>
          <a:xfrm>
            <a:off x="1699750" y="1335912"/>
            <a:ext cx="484500" cy="4848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45"/>
          <p:cNvSpPr/>
          <p:nvPr/>
        </p:nvSpPr>
        <p:spPr>
          <a:xfrm>
            <a:off x="4329700" y="1335912"/>
            <a:ext cx="484500" cy="4848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45"/>
          <p:cNvSpPr/>
          <p:nvPr/>
        </p:nvSpPr>
        <p:spPr>
          <a:xfrm>
            <a:off x="6959650" y="1335912"/>
            <a:ext cx="484500" cy="4848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45"/>
          <p:cNvSpPr/>
          <p:nvPr/>
        </p:nvSpPr>
        <p:spPr>
          <a:xfrm>
            <a:off x="1699750" y="3119187"/>
            <a:ext cx="484500" cy="4848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45"/>
          <p:cNvSpPr/>
          <p:nvPr/>
        </p:nvSpPr>
        <p:spPr>
          <a:xfrm>
            <a:off x="4329700" y="3119187"/>
            <a:ext cx="484500" cy="4848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45"/>
          <p:cNvSpPr/>
          <p:nvPr/>
        </p:nvSpPr>
        <p:spPr>
          <a:xfrm>
            <a:off x="6959650" y="3119187"/>
            <a:ext cx="484500" cy="4848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6" name="Google Shape;596;p45"/>
          <p:cNvGrpSpPr/>
          <p:nvPr/>
        </p:nvGrpSpPr>
        <p:grpSpPr>
          <a:xfrm>
            <a:off x="7057747" y="3217518"/>
            <a:ext cx="288308" cy="288136"/>
            <a:chOff x="4055349" y="2496563"/>
            <a:chExt cx="446851" cy="446584"/>
          </a:xfrm>
        </p:grpSpPr>
        <p:sp>
          <p:nvSpPr>
            <p:cNvPr id="597" name="Google Shape;597;p45"/>
            <p:cNvSpPr/>
            <p:nvPr/>
          </p:nvSpPr>
          <p:spPr>
            <a:xfrm>
              <a:off x="4265512" y="2810566"/>
              <a:ext cx="26218" cy="34580"/>
            </a:xfrm>
            <a:custGeom>
              <a:avLst/>
              <a:gdLst/>
              <a:ahLst/>
              <a:cxnLst/>
              <a:rect l="l" t="t" r="r" b="b"/>
              <a:pathLst>
                <a:path w="759" h="1001" extrusionOk="0">
                  <a:moveTo>
                    <a:pt x="0" y="1"/>
                  </a:moveTo>
                  <a:lnTo>
                    <a:pt x="0" y="1000"/>
                  </a:lnTo>
                  <a:cubicBezTo>
                    <a:pt x="125" y="973"/>
                    <a:pt x="250" y="956"/>
                    <a:pt x="384" y="956"/>
                  </a:cubicBezTo>
                  <a:cubicBezTo>
                    <a:pt x="509" y="956"/>
                    <a:pt x="643" y="973"/>
                    <a:pt x="759" y="1000"/>
                  </a:cubicBezTo>
                  <a:lnTo>
                    <a:pt x="7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45"/>
            <p:cNvSpPr/>
            <p:nvPr/>
          </p:nvSpPr>
          <p:spPr>
            <a:xfrm>
              <a:off x="4055349" y="2892538"/>
              <a:ext cx="162730" cy="26254"/>
            </a:xfrm>
            <a:custGeom>
              <a:avLst/>
              <a:gdLst/>
              <a:ahLst/>
              <a:cxnLst/>
              <a:rect l="l" t="t" r="r" b="b"/>
              <a:pathLst>
                <a:path w="4711" h="760" extrusionOk="0">
                  <a:moveTo>
                    <a:pt x="0" y="1"/>
                  </a:moveTo>
                  <a:lnTo>
                    <a:pt x="0" y="759"/>
                  </a:lnTo>
                  <a:lnTo>
                    <a:pt x="4711" y="759"/>
                  </a:lnTo>
                  <a:cubicBezTo>
                    <a:pt x="4684" y="634"/>
                    <a:pt x="4666" y="509"/>
                    <a:pt x="4666" y="385"/>
                  </a:cubicBezTo>
                  <a:cubicBezTo>
                    <a:pt x="4666" y="251"/>
                    <a:pt x="4684" y="126"/>
                    <a:pt x="47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45"/>
            <p:cNvSpPr/>
            <p:nvPr/>
          </p:nvSpPr>
          <p:spPr>
            <a:xfrm>
              <a:off x="4339470" y="2892538"/>
              <a:ext cx="162730" cy="26254"/>
            </a:xfrm>
            <a:custGeom>
              <a:avLst/>
              <a:gdLst/>
              <a:ahLst/>
              <a:cxnLst/>
              <a:rect l="l" t="t" r="r" b="b"/>
              <a:pathLst>
                <a:path w="4711" h="760" extrusionOk="0">
                  <a:moveTo>
                    <a:pt x="0" y="1"/>
                  </a:moveTo>
                  <a:cubicBezTo>
                    <a:pt x="27" y="126"/>
                    <a:pt x="45" y="251"/>
                    <a:pt x="45" y="385"/>
                  </a:cubicBezTo>
                  <a:cubicBezTo>
                    <a:pt x="45" y="509"/>
                    <a:pt x="27" y="634"/>
                    <a:pt x="0" y="759"/>
                  </a:cubicBezTo>
                  <a:lnTo>
                    <a:pt x="4711" y="759"/>
                  </a:lnTo>
                  <a:lnTo>
                    <a:pt x="47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45"/>
            <p:cNvSpPr/>
            <p:nvPr/>
          </p:nvSpPr>
          <p:spPr>
            <a:xfrm>
              <a:off x="4172451" y="2687625"/>
              <a:ext cx="211746" cy="28707"/>
            </a:xfrm>
            <a:custGeom>
              <a:avLst/>
              <a:gdLst/>
              <a:ahLst/>
              <a:cxnLst/>
              <a:rect l="l" t="t" r="r" b="b"/>
              <a:pathLst>
                <a:path w="6130" h="831" extrusionOk="0">
                  <a:moveTo>
                    <a:pt x="0" y="1"/>
                  </a:moveTo>
                  <a:lnTo>
                    <a:pt x="0" y="830"/>
                  </a:lnTo>
                  <a:lnTo>
                    <a:pt x="6129" y="830"/>
                  </a:lnTo>
                  <a:lnTo>
                    <a:pt x="61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45"/>
            <p:cNvSpPr/>
            <p:nvPr/>
          </p:nvSpPr>
          <p:spPr>
            <a:xfrm>
              <a:off x="4172451" y="2565271"/>
              <a:ext cx="211746" cy="29018"/>
            </a:xfrm>
            <a:custGeom>
              <a:avLst/>
              <a:gdLst/>
              <a:ahLst/>
              <a:cxnLst/>
              <a:rect l="l" t="t" r="r" b="b"/>
              <a:pathLst>
                <a:path w="6130" h="840" extrusionOk="0">
                  <a:moveTo>
                    <a:pt x="0" y="1"/>
                  </a:moveTo>
                  <a:lnTo>
                    <a:pt x="0" y="839"/>
                  </a:lnTo>
                  <a:lnTo>
                    <a:pt x="6129" y="839"/>
                  </a:lnTo>
                  <a:lnTo>
                    <a:pt x="61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45"/>
            <p:cNvSpPr/>
            <p:nvPr/>
          </p:nvSpPr>
          <p:spPr>
            <a:xfrm>
              <a:off x="4146233" y="2496563"/>
              <a:ext cx="264146" cy="43492"/>
            </a:xfrm>
            <a:custGeom>
              <a:avLst/>
              <a:gdLst/>
              <a:ahLst/>
              <a:cxnLst/>
              <a:rect l="l" t="t" r="r" b="b"/>
              <a:pathLst>
                <a:path w="7647" h="1259" extrusionOk="0">
                  <a:moveTo>
                    <a:pt x="1" y="0"/>
                  </a:moveTo>
                  <a:lnTo>
                    <a:pt x="1" y="1258"/>
                  </a:lnTo>
                  <a:lnTo>
                    <a:pt x="7646" y="1258"/>
                  </a:lnTo>
                  <a:lnTo>
                    <a:pt x="76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45"/>
            <p:cNvSpPr/>
            <p:nvPr/>
          </p:nvSpPr>
          <p:spPr>
            <a:xfrm>
              <a:off x="4146233" y="2618606"/>
              <a:ext cx="264146" cy="43769"/>
            </a:xfrm>
            <a:custGeom>
              <a:avLst/>
              <a:gdLst/>
              <a:ahLst/>
              <a:cxnLst/>
              <a:rect l="l" t="t" r="r" b="b"/>
              <a:pathLst>
                <a:path w="7647" h="1267" extrusionOk="0">
                  <a:moveTo>
                    <a:pt x="1" y="0"/>
                  </a:moveTo>
                  <a:lnTo>
                    <a:pt x="1" y="1267"/>
                  </a:lnTo>
                  <a:lnTo>
                    <a:pt x="7646" y="1267"/>
                  </a:lnTo>
                  <a:lnTo>
                    <a:pt x="76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45"/>
            <p:cNvSpPr/>
            <p:nvPr/>
          </p:nvSpPr>
          <p:spPr>
            <a:xfrm>
              <a:off x="4146233" y="2741548"/>
              <a:ext cx="264146" cy="43803"/>
            </a:xfrm>
            <a:custGeom>
              <a:avLst/>
              <a:gdLst/>
              <a:ahLst/>
              <a:cxnLst/>
              <a:rect l="l" t="t" r="r" b="b"/>
              <a:pathLst>
                <a:path w="7647" h="1268" extrusionOk="0">
                  <a:moveTo>
                    <a:pt x="1" y="1"/>
                  </a:moveTo>
                  <a:lnTo>
                    <a:pt x="1" y="1267"/>
                  </a:lnTo>
                  <a:lnTo>
                    <a:pt x="7646" y="1267"/>
                  </a:lnTo>
                  <a:lnTo>
                    <a:pt x="76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45"/>
            <p:cNvSpPr/>
            <p:nvPr/>
          </p:nvSpPr>
          <p:spPr>
            <a:xfrm>
              <a:off x="4241470" y="2869429"/>
              <a:ext cx="73990" cy="73719"/>
            </a:xfrm>
            <a:custGeom>
              <a:avLst/>
              <a:gdLst/>
              <a:ahLst/>
              <a:cxnLst/>
              <a:rect l="l" t="t" r="r" b="b"/>
              <a:pathLst>
                <a:path w="2142" h="2134" extrusionOk="0">
                  <a:moveTo>
                    <a:pt x="1071" y="1"/>
                  </a:moveTo>
                  <a:cubicBezTo>
                    <a:pt x="482" y="1"/>
                    <a:pt x="1" y="474"/>
                    <a:pt x="1" y="1062"/>
                  </a:cubicBezTo>
                  <a:cubicBezTo>
                    <a:pt x="1" y="1651"/>
                    <a:pt x="482" y="2133"/>
                    <a:pt x="1071" y="2133"/>
                  </a:cubicBezTo>
                  <a:cubicBezTo>
                    <a:pt x="1660" y="2133"/>
                    <a:pt x="2142" y="1651"/>
                    <a:pt x="2142" y="1062"/>
                  </a:cubicBezTo>
                  <a:cubicBezTo>
                    <a:pt x="2142" y="474"/>
                    <a:pt x="1660" y="1"/>
                    <a:pt x="1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6" name="Google Shape;606;p45"/>
          <p:cNvGrpSpPr/>
          <p:nvPr/>
        </p:nvGrpSpPr>
        <p:grpSpPr>
          <a:xfrm>
            <a:off x="4427606" y="3217718"/>
            <a:ext cx="288703" cy="287737"/>
            <a:chOff x="4639619" y="2496874"/>
            <a:chExt cx="447464" cy="445966"/>
          </a:xfrm>
        </p:grpSpPr>
        <p:sp>
          <p:nvSpPr>
            <p:cNvPr id="607" name="Google Shape;607;p45"/>
            <p:cNvSpPr/>
            <p:nvPr/>
          </p:nvSpPr>
          <p:spPr>
            <a:xfrm>
              <a:off x="4639619" y="2496874"/>
              <a:ext cx="447464" cy="270626"/>
            </a:xfrm>
            <a:custGeom>
              <a:avLst/>
              <a:gdLst/>
              <a:ahLst/>
              <a:cxnLst/>
              <a:rect l="l" t="t" r="r" b="b"/>
              <a:pathLst>
                <a:path w="12954" h="7834" extrusionOk="0">
                  <a:moveTo>
                    <a:pt x="6477" y="0"/>
                  </a:moveTo>
                  <a:cubicBezTo>
                    <a:pt x="5300" y="0"/>
                    <a:pt x="4327" y="928"/>
                    <a:pt x="4265" y="2097"/>
                  </a:cubicBezTo>
                  <a:cubicBezTo>
                    <a:pt x="4104" y="2052"/>
                    <a:pt x="3935" y="2025"/>
                    <a:pt x="3765" y="2025"/>
                  </a:cubicBezTo>
                  <a:cubicBezTo>
                    <a:pt x="2811" y="2025"/>
                    <a:pt x="2017" y="2748"/>
                    <a:pt x="1910" y="3667"/>
                  </a:cubicBezTo>
                  <a:cubicBezTo>
                    <a:pt x="857" y="3765"/>
                    <a:pt x="27" y="4648"/>
                    <a:pt x="18" y="5728"/>
                  </a:cubicBezTo>
                  <a:cubicBezTo>
                    <a:pt x="1" y="6879"/>
                    <a:pt x="964" y="7833"/>
                    <a:pt x="2124" y="7833"/>
                  </a:cubicBezTo>
                  <a:lnTo>
                    <a:pt x="2177" y="7833"/>
                  </a:lnTo>
                  <a:lnTo>
                    <a:pt x="2177" y="6682"/>
                  </a:lnTo>
                  <a:cubicBezTo>
                    <a:pt x="2177" y="5656"/>
                    <a:pt x="3007" y="4827"/>
                    <a:pt x="4033" y="4827"/>
                  </a:cubicBezTo>
                  <a:lnTo>
                    <a:pt x="4550" y="4827"/>
                  </a:lnTo>
                  <a:cubicBezTo>
                    <a:pt x="4773" y="3970"/>
                    <a:pt x="5549" y="3337"/>
                    <a:pt x="6477" y="3337"/>
                  </a:cubicBezTo>
                  <a:cubicBezTo>
                    <a:pt x="7405" y="3337"/>
                    <a:pt x="8181" y="3970"/>
                    <a:pt x="8404" y="4827"/>
                  </a:cubicBezTo>
                  <a:lnTo>
                    <a:pt x="8922" y="4827"/>
                  </a:lnTo>
                  <a:cubicBezTo>
                    <a:pt x="9948" y="4827"/>
                    <a:pt x="10786" y="5656"/>
                    <a:pt x="10786" y="6682"/>
                  </a:cubicBezTo>
                  <a:lnTo>
                    <a:pt x="10786" y="7833"/>
                  </a:lnTo>
                  <a:lnTo>
                    <a:pt x="10831" y="7833"/>
                  </a:lnTo>
                  <a:cubicBezTo>
                    <a:pt x="11990" y="7833"/>
                    <a:pt x="12954" y="6879"/>
                    <a:pt x="12945" y="5728"/>
                  </a:cubicBezTo>
                  <a:cubicBezTo>
                    <a:pt x="12936" y="4648"/>
                    <a:pt x="12098" y="3765"/>
                    <a:pt x="11045" y="3667"/>
                  </a:cubicBezTo>
                  <a:cubicBezTo>
                    <a:pt x="10938" y="2748"/>
                    <a:pt x="10153" y="2025"/>
                    <a:pt x="9198" y="2025"/>
                  </a:cubicBezTo>
                  <a:cubicBezTo>
                    <a:pt x="9020" y="2025"/>
                    <a:pt x="8850" y="2052"/>
                    <a:pt x="8690" y="2097"/>
                  </a:cubicBezTo>
                  <a:cubicBezTo>
                    <a:pt x="8627" y="928"/>
                    <a:pt x="7664" y="0"/>
                    <a:pt x="64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45"/>
            <p:cNvSpPr/>
            <p:nvPr/>
          </p:nvSpPr>
          <p:spPr>
            <a:xfrm>
              <a:off x="4764425" y="2768043"/>
              <a:ext cx="198170" cy="174798"/>
            </a:xfrm>
            <a:custGeom>
              <a:avLst/>
              <a:gdLst/>
              <a:ahLst/>
              <a:cxnLst/>
              <a:rect l="l" t="t" r="r" b="b"/>
              <a:pathLst>
                <a:path w="5737" h="5060" extrusionOk="0">
                  <a:moveTo>
                    <a:pt x="2347" y="866"/>
                  </a:moveTo>
                  <a:lnTo>
                    <a:pt x="2347" y="4194"/>
                  </a:lnTo>
                  <a:lnTo>
                    <a:pt x="1589" y="4194"/>
                  </a:lnTo>
                  <a:lnTo>
                    <a:pt x="1589" y="866"/>
                  </a:lnTo>
                  <a:close/>
                  <a:moveTo>
                    <a:pt x="4113" y="866"/>
                  </a:moveTo>
                  <a:lnTo>
                    <a:pt x="4113" y="4194"/>
                  </a:lnTo>
                  <a:lnTo>
                    <a:pt x="3355" y="4194"/>
                  </a:lnTo>
                  <a:lnTo>
                    <a:pt x="3355" y="866"/>
                  </a:lnTo>
                  <a:close/>
                  <a:moveTo>
                    <a:pt x="1" y="1"/>
                  </a:moveTo>
                  <a:lnTo>
                    <a:pt x="241" y="5059"/>
                  </a:lnTo>
                  <a:lnTo>
                    <a:pt x="5496" y="5059"/>
                  </a:lnTo>
                  <a:lnTo>
                    <a:pt x="57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45"/>
            <p:cNvSpPr/>
            <p:nvPr/>
          </p:nvSpPr>
          <p:spPr>
            <a:xfrm>
              <a:off x="4740072" y="2637087"/>
              <a:ext cx="246875" cy="104810"/>
            </a:xfrm>
            <a:custGeom>
              <a:avLst/>
              <a:gdLst/>
              <a:ahLst/>
              <a:cxnLst/>
              <a:rect l="l" t="t" r="r" b="b"/>
              <a:pathLst>
                <a:path w="7147" h="3034" extrusionOk="0">
                  <a:moveTo>
                    <a:pt x="3569" y="739"/>
                  </a:moveTo>
                  <a:cubicBezTo>
                    <a:pt x="3584" y="739"/>
                    <a:pt x="3599" y="739"/>
                    <a:pt x="3614" y="741"/>
                  </a:cubicBezTo>
                  <a:cubicBezTo>
                    <a:pt x="3873" y="759"/>
                    <a:pt x="4060" y="982"/>
                    <a:pt x="4060" y="1240"/>
                  </a:cubicBezTo>
                  <a:lnTo>
                    <a:pt x="4060" y="1472"/>
                  </a:lnTo>
                  <a:lnTo>
                    <a:pt x="3079" y="1472"/>
                  </a:lnTo>
                  <a:lnTo>
                    <a:pt x="3079" y="1232"/>
                  </a:lnTo>
                  <a:cubicBezTo>
                    <a:pt x="3079" y="961"/>
                    <a:pt x="3303" y="739"/>
                    <a:pt x="3569" y="739"/>
                  </a:cubicBezTo>
                  <a:close/>
                  <a:moveTo>
                    <a:pt x="3579" y="0"/>
                  </a:moveTo>
                  <a:cubicBezTo>
                    <a:pt x="2882" y="0"/>
                    <a:pt x="2320" y="559"/>
                    <a:pt x="2320" y="1258"/>
                  </a:cubicBezTo>
                  <a:lnTo>
                    <a:pt x="2320" y="1499"/>
                  </a:lnTo>
                  <a:lnTo>
                    <a:pt x="768" y="1499"/>
                  </a:lnTo>
                  <a:cubicBezTo>
                    <a:pt x="340" y="1499"/>
                    <a:pt x="1" y="1838"/>
                    <a:pt x="1" y="2266"/>
                  </a:cubicBezTo>
                  <a:lnTo>
                    <a:pt x="1" y="3034"/>
                  </a:lnTo>
                  <a:lnTo>
                    <a:pt x="7147" y="3034"/>
                  </a:lnTo>
                  <a:lnTo>
                    <a:pt x="7147" y="2266"/>
                  </a:lnTo>
                  <a:cubicBezTo>
                    <a:pt x="7147" y="1838"/>
                    <a:pt x="6799" y="1499"/>
                    <a:pt x="6370" y="1499"/>
                  </a:cubicBezTo>
                  <a:lnTo>
                    <a:pt x="4818" y="1499"/>
                  </a:lnTo>
                  <a:lnTo>
                    <a:pt x="4818" y="1276"/>
                  </a:lnTo>
                  <a:cubicBezTo>
                    <a:pt x="4818" y="589"/>
                    <a:pt x="4283" y="18"/>
                    <a:pt x="3596" y="0"/>
                  </a:cubicBezTo>
                  <a:cubicBezTo>
                    <a:pt x="3591" y="0"/>
                    <a:pt x="3585" y="0"/>
                    <a:pt x="35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0" name="Google Shape;610;p45"/>
          <p:cNvGrpSpPr/>
          <p:nvPr/>
        </p:nvGrpSpPr>
        <p:grpSpPr>
          <a:xfrm>
            <a:off x="1797935" y="3217518"/>
            <a:ext cx="288131" cy="288137"/>
            <a:chOff x="5224822" y="2496563"/>
            <a:chExt cx="446576" cy="446586"/>
          </a:xfrm>
        </p:grpSpPr>
        <p:sp>
          <p:nvSpPr>
            <p:cNvPr id="611" name="Google Shape;611;p45"/>
            <p:cNvSpPr/>
            <p:nvPr/>
          </p:nvSpPr>
          <p:spPr>
            <a:xfrm>
              <a:off x="5224822" y="2825385"/>
              <a:ext cx="130087" cy="117764"/>
            </a:xfrm>
            <a:custGeom>
              <a:avLst/>
              <a:gdLst/>
              <a:ahLst/>
              <a:cxnLst/>
              <a:rect l="l" t="t" r="r" b="b"/>
              <a:pathLst>
                <a:path w="3766" h="3409" extrusionOk="0">
                  <a:moveTo>
                    <a:pt x="1" y="0"/>
                  </a:moveTo>
                  <a:lnTo>
                    <a:pt x="1" y="3408"/>
                  </a:lnTo>
                  <a:lnTo>
                    <a:pt x="3765" y="3408"/>
                  </a:lnTo>
                  <a:lnTo>
                    <a:pt x="3765" y="705"/>
                  </a:lnTo>
                  <a:lnTo>
                    <a:pt x="2008" y="705"/>
                  </a:lnTo>
                  <a:lnTo>
                    <a:pt x="15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45"/>
            <p:cNvSpPr/>
            <p:nvPr/>
          </p:nvSpPr>
          <p:spPr>
            <a:xfrm>
              <a:off x="5382618" y="2825385"/>
              <a:ext cx="130053" cy="117764"/>
            </a:xfrm>
            <a:custGeom>
              <a:avLst/>
              <a:gdLst/>
              <a:ahLst/>
              <a:cxnLst/>
              <a:rect l="l" t="t" r="r" b="b"/>
              <a:pathLst>
                <a:path w="3765" h="3409" extrusionOk="0">
                  <a:moveTo>
                    <a:pt x="0" y="0"/>
                  </a:moveTo>
                  <a:lnTo>
                    <a:pt x="0" y="3408"/>
                  </a:lnTo>
                  <a:lnTo>
                    <a:pt x="3765" y="3408"/>
                  </a:lnTo>
                  <a:lnTo>
                    <a:pt x="3765" y="705"/>
                  </a:lnTo>
                  <a:lnTo>
                    <a:pt x="2016" y="705"/>
                  </a:lnTo>
                  <a:lnTo>
                    <a:pt x="15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45"/>
            <p:cNvSpPr/>
            <p:nvPr/>
          </p:nvSpPr>
          <p:spPr>
            <a:xfrm>
              <a:off x="5541311" y="2825385"/>
              <a:ext cx="130087" cy="117764"/>
            </a:xfrm>
            <a:custGeom>
              <a:avLst/>
              <a:gdLst/>
              <a:ahLst/>
              <a:cxnLst/>
              <a:rect l="l" t="t" r="r" b="b"/>
              <a:pathLst>
                <a:path w="3766" h="3409" extrusionOk="0">
                  <a:moveTo>
                    <a:pt x="1" y="0"/>
                  </a:moveTo>
                  <a:lnTo>
                    <a:pt x="1" y="3408"/>
                  </a:lnTo>
                  <a:lnTo>
                    <a:pt x="3765" y="3408"/>
                  </a:lnTo>
                  <a:lnTo>
                    <a:pt x="3765" y="705"/>
                  </a:lnTo>
                  <a:lnTo>
                    <a:pt x="2017" y="705"/>
                  </a:lnTo>
                  <a:lnTo>
                    <a:pt x="15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45"/>
            <p:cNvSpPr/>
            <p:nvPr/>
          </p:nvSpPr>
          <p:spPr>
            <a:xfrm>
              <a:off x="5277225" y="2681476"/>
              <a:ext cx="340831" cy="115898"/>
            </a:xfrm>
            <a:custGeom>
              <a:avLst/>
              <a:gdLst/>
              <a:ahLst/>
              <a:cxnLst/>
              <a:rect l="l" t="t" r="r" b="b"/>
              <a:pathLst>
                <a:path w="9867" h="3355" extrusionOk="0">
                  <a:moveTo>
                    <a:pt x="4568" y="0"/>
                  </a:moveTo>
                  <a:lnTo>
                    <a:pt x="4568" y="1285"/>
                  </a:lnTo>
                  <a:lnTo>
                    <a:pt x="0" y="1285"/>
                  </a:lnTo>
                  <a:lnTo>
                    <a:pt x="0" y="3354"/>
                  </a:lnTo>
                  <a:lnTo>
                    <a:pt x="759" y="3354"/>
                  </a:lnTo>
                  <a:lnTo>
                    <a:pt x="759" y="2043"/>
                  </a:lnTo>
                  <a:lnTo>
                    <a:pt x="4541" y="2043"/>
                  </a:lnTo>
                  <a:lnTo>
                    <a:pt x="4541" y="3354"/>
                  </a:lnTo>
                  <a:lnTo>
                    <a:pt x="5299" y="3354"/>
                  </a:lnTo>
                  <a:lnTo>
                    <a:pt x="5299" y="2043"/>
                  </a:lnTo>
                  <a:lnTo>
                    <a:pt x="9118" y="2043"/>
                  </a:lnTo>
                  <a:lnTo>
                    <a:pt x="9118" y="3354"/>
                  </a:lnTo>
                  <a:lnTo>
                    <a:pt x="9867" y="3354"/>
                  </a:lnTo>
                  <a:lnTo>
                    <a:pt x="9867" y="1285"/>
                  </a:lnTo>
                  <a:lnTo>
                    <a:pt x="5299" y="1285"/>
                  </a:lnTo>
                  <a:lnTo>
                    <a:pt x="52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45"/>
            <p:cNvSpPr/>
            <p:nvPr/>
          </p:nvSpPr>
          <p:spPr>
            <a:xfrm>
              <a:off x="5324688" y="2496563"/>
              <a:ext cx="245943" cy="160289"/>
            </a:xfrm>
            <a:custGeom>
              <a:avLst/>
              <a:gdLst/>
              <a:ahLst/>
              <a:cxnLst/>
              <a:rect l="l" t="t" r="r" b="b"/>
              <a:pathLst>
                <a:path w="7120" h="4640" extrusionOk="0">
                  <a:moveTo>
                    <a:pt x="3560" y="0"/>
                  </a:moveTo>
                  <a:cubicBezTo>
                    <a:pt x="3006" y="0"/>
                    <a:pt x="2560" y="447"/>
                    <a:pt x="2560" y="991"/>
                  </a:cubicBezTo>
                  <a:lnTo>
                    <a:pt x="2560" y="1116"/>
                  </a:lnTo>
                  <a:cubicBezTo>
                    <a:pt x="2390" y="1020"/>
                    <a:pt x="2202" y="972"/>
                    <a:pt x="2014" y="972"/>
                  </a:cubicBezTo>
                  <a:cubicBezTo>
                    <a:pt x="1728" y="972"/>
                    <a:pt x="1443" y="1082"/>
                    <a:pt x="1222" y="1303"/>
                  </a:cubicBezTo>
                  <a:cubicBezTo>
                    <a:pt x="856" y="1669"/>
                    <a:pt x="794" y="2222"/>
                    <a:pt x="1035" y="2650"/>
                  </a:cubicBezTo>
                  <a:lnTo>
                    <a:pt x="990" y="2650"/>
                  </a:lnTo>
                  <a:cubicBezTo>
                    <a:pt x="446" y="2650"/>
                    <a:pt x="0" y="3096"/>
                    <a:pt x="0" y="3649"/>
                  </a:cubicBezTo>
                  <a:cubicBezTo>
                    <a:pt x="0" y="4193"/>
                    <a:pt x="446" y="4639"/>
                    <a:pt x="990" y="4639"/>
                  </a:cubicBezTo>
                  <a:lnTo>
                    <a:pt x="6120" y="4639"/>
                  </a:lnTo>
                  <a:cubicBezTo>
                    <a:pt x="6673" y="4639"/>
                    <a:pt x="7119" y="4193"/>
                    <a:pt x="7119" y="3649"/>
                  </a:cubicBezTo>
                  <a:cubicBezTo>
                    <a:pt x="7119" y="3096"/>
                    <a:pt x="6673" y="2650"/>
                    <a:pt x="6120" y="2650"/>
                  </a:cubicBezTo>
                  <a:lnTo>
                    <a:pt x="6093" y="2650"/>
                  </a:lnTo>
                  <a:cubicBezTo>
                    <a:pt x="6325" y="2222"/>
                    <a:pt x="6263" y="1669"/>
                    <a:pt x="5897" y="1312"/>
                  </a:cubicBezTo>
                  <a:cubicBezTo>
                    <a:pt x="5674" y="1089"/>
                    <a:pt x="5386" y="979"/>
                    <a:pt x="5097" y="979"/>
                  </a:cubicBezTo>
                  <a:cubicBezTo>
                    <a:pt x="4912" y="979"/>
                    <a:pt x="4726" y="1025"/>
                    <a:pt x="4559" y="1116"/>
                  </a:cubicBezTo>
                  <a:lnTo>
                    <a:pt x="4559" y="991"/>
                  </a:lnTo>
                  <a:cubicBezTo>
                    <a:pt x="4559" y="447"/>
                    <a:pt x="4113" y="0"/>
                    <a:pt x="35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6" name="Google Shape;616;p45"/>
          <p:cNvGrpSpPr/>
          <p:nvPr/>
        </p:nvGrpSpPr>
        <p:grpSpPr>
          <a:xfrm>
            <a:off x="4427888" y="1434178"/>
            <a:ext cx="288131" cy="288269"/>
            <a:chOff x="5809404" y="2496356"/>
            <a:chExt cx="446577" cy="446791"/>
          </a:xfrm>
        </p:grpSpPr>
        <p:sp>
          <p:nvSpPr>
            <p:cNvPr id="617" name="Google Shape;617;p45"/>
            <p:cNvSpPr/>
            <p:nvPr/>
          </p:nvSpPr>
          <p:spPr>
            <a:xfrm>
              <a:off x="6058118" y="2636155"/>
              <a:ext cx="197859" cy="234561"/>
            </a:xfrm>
            <a:custGeom>
              <a:avLst/>
              <a:gdLst/>
              <a:ahLst/>
              <a:cxnLst/>
              <a:rect l="l" t="t" r="r" b="b"/>
              <a:pathLst>
                <a:path w="5728" h="6790" extrusionOk="0">
                  <a:moveTo>
                    <a:pt x="3524" y="1"/>
                  </a:moveTo>
                  <a:cubicBezTo>
                    <a:pt x="3292" y="661"/>
                    <a:pt x="2659" y="1134"/>
                    <a:pt x="1918" y="1134"/>
                  </a:cubicBezTo>
                  <a:lnTo>
                    <a:pt x="0" y="1134"/>
                  </a:lnTo>
                  <a:lnTo>
                    <a:pt x="0" y="2704"/>
                  </a:lnTo>
                  <a:lnTo>
                    <a:pt x="1900" y="2704"/>
                  </a:lnTo>
                  <a:lnTo>
                    <a:pt x="1517" y="2311"/>
                  </a:lnTo>
                  <a:lnTo>
                    <a:pt x="2052" y="1776"/>
                  </a:lnTo>
                  <a:lnTo>
                    <a:pt x="3363" y="3087"/>
                  </a:lnTo>
                  <a:lnTo>
                    <a:pt x="2052" y="4399"/>
                  </a:lnTo>
                  <a:lnTo>
                    <a:pt x="1517" y="3863"/>
                  </a:lnTo>
                  <a:lnTo>
                    <a:pt x="1918" y="3462"/>
                  </a:lnTo>
                  <a:lnTo>
                    <a:pt x="0" y="3462"/>
                  </a:lnTo>
                  <a:lnTo>
                    <a:pt x="0" y="6790"/>
                  </a:lnTo>
                  <a:lnTo>
                    <a:pt x="5727" y="6790"/>
                  </a:lnTo>
                  <a:lnTo>
                    <a:pt x="572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45"/>
            <p:cNvSpPr/>
            <p:nvPr/>
          </p:nvSpPr>
          <p:spPr>
            <a:xfrm>
              <a:off x="6058118" y="2896856"/>
              <a:ext cx="197859" cy="46290"/>
            </a:xfrm>
            <a:custGeom>
              <a:avLst/>
              <a:gdLst/>
              <a:ahLst/>
              <a:cxnLst/>
              <a:rect l="l" t="t" r="r" b="b"/>
              <a:pathLst>
                <a:path w="5728" h="1340" extrusionOk="0">
                  <a:moveTo>
                    <a:pt x="0" y="1"/>
                  </a:moveTo>
                  <a:lnTo>
                    <a:pt x="0" y="1339"/>
                  </a:lnTo>
                  <a:lnTo>
                    <a:pt x="5727" y="1339"/>
                  </a:lnTo>
                  <a:lnTo>
                    <a:pt x="572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45"/>
            <p:cNvSpPr/>
            <p:nvPr/>
          </p:nvSpPr>
          <p:spPr>
            <a:xfrm>
              <a:off x="6165030" y="2574218"/>
              <a:ext cx="90950" cy="35789"/>
            </a:xfrm>
            <a:custGeom>
              <a:avLst/>
              <a:gdLst/>
              <a:ahLst/>
              <a:cxnLst/>
              <a:rect l="l" t="t" r="r" b="b"/>
              <a:pathLst>
                <a:path w="2633" h="1036" extrusionOk="0">
                  <a:moveTo>
                    <a:pt x="1" y="1"/>
                  </a:moveTo>
                  <a:cubicBezTo>
                    <a:pt x="277" y="268"/>
                    <a:pt x="465" y="634"/>
                    <a:pt x="518" y="1035"/>
                  </a:cubicBezTo>
                  <a:lnTo>
                    <a:pt x="2632" y="103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45"/>
            <p:cNvSpPr/>
            <p:nvPr/>
          </p:nvSpPr>
          <p:spPr>
            <a:xfrm>
              <a:off x="6007580" y="2781929"/>
              <a:ext cx="25285" cy="26220"/>
            </a:xfrm>
            <a:custGeom>
              <a:avLst/>
              <a:gdLst/>
              <a:ahLst/>
              <a:cxnLst/>
              <a:rect l="l" t="t" r="r" b="b"/>
              <a:pathLst>
                <a:path w="732" h="759" extrusionOk="0">
                  <a:moveTo>
                    <a:pt x="0" y="0"/>
                  </a:moveTo>
                  <a:lnTo>
                    <a:pt x="0" y="759"/>
                  </a:lnTo>
                  <a:lnTo>
                    <a:pt x="732" y="759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45"/>
            <p:cNvSpPr/>
            <p:nvPr/>
          </p:nvSpPr>
          <p:spPr>
            <a:xfrm>
              <a:off x="6032832" y="2729526"/>
              <a:ext cx="25320" cy="26254"/>
            </a:xfrm>
            <a:custGeom>
              <a:avLst/>
              <a:gdLst/>
              <a:ahLst/>
              <a:cxnLst/>
              <a:rect l="l" t="t" r="r" b="b"/>
              <a:pathLst>
                <a:path w="733" h="760" extrusionOk="0">
                  <a:moveTo>
                    <a:pt x="1" y="1"/>
                  </a:moveTo>
                  <a:lnTo>
                    <a:pt x="1" y="759"/>
                  </a:lnTo>
                  <a:lnTo>
                    <a:pt x="732" y="759"/>
                  </a:lnTo>
                  <a:lnTo>
                    <a:pt x="7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45"/>
            <p:cNvSpPr/>
            <p:nvPr/>
          </p:nvSpPr>
          <p:spPr>
            <a:xfrm>
              <a:off x="5809404" y="2896856"/>
              <a:ext cx="198205" cy="46290"/>
            </a:xfrm>
            <a:custGeom>
              <a:avLst/>
              <a:gdLst/>
              <a:ahLst/>
              <a:cxnLst/>
              <a:rect l="l" t="t" r="r" b="b"/>
              <a:pathLst>
                <a:path w="5738" h="1340" extrusionOk="0">
                  <a:moveTo>
                    <a:pt x="1" y="1"/>
                  </a:moveTo>
                  <a:lnTo>
                    <a:pt x="1" y="1339"/>
                  </a:lnTo>
                  <a:lnTo>
                    <a:pt x="5737" y="1339"/>
                  </a:lnTo>
                  <a:lnTo>
                    <a:pt x="57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45"/>
            <p:cNvSpPr/>
            <p:nvPr/>
          </p:nvSpPr>
          <p:spPr>
            <a:xfrm>
              <a:off x="5809404" y="2637087"/>
              <a:ext cx="198205" cy="233628"/>
            </a:xfrm>
            <a:custGeom>
              <a:avLst/>
              <a:gdLst/>
              <a:ahLst/>
              <a:cxnLst/>
              <a:rect l="l" t="t" r="r" b="b"/>
              <a:pathLst>
                <a:path w="5738" h="6763" extrusionOk="0">
                  <a:moveTo>
                    <a:pt x="1" y="0"/>
                  </a:moveTo>
                  <a:lnTo>
                    <a:pt x="1" y="6763"/>
                  </a:lnTo>
                  <a:lnTo>
                    <a:pt x="5737" y="6763"/>
                  </a:lnTo>
                  <a:lnTo>
                    <a:pt x="5737" y="4952"/>
                  </a:lnTo>
                  <a:lnTo>
                    <a:pt x="3792" y="4952"/>
                  </a:lnTo>
                  <a:lnTo>
                    <a:pt x="4194" y="5353"/>
                  </a:lnTo>
                  <a:lnTo>
                    <a:pt x="3659" y="5888"/>
                  </a:lnTo>
                  <a:lnTo>
                    <a:pt x="2347" y="4577"/>
                  </a:lnTo>
                  <a:lnTo>
                    <a:pt x="3659" y="3266"/>
                  </a:lnTo>
                  <a:lnTo>
                    <a:pt x="4194" y="3801"/>
                  </a:lnTo>
                  <a:lnTo>
                    <a:pt x="3801" y="4193"/>
                  </a:lnTo>
                  <a:lnTo>
                    <a:pt x="5737" y="4193"/>
                  </a:lnTo>
                  <a:lnTo>
                    <a:pt x="5737" y="1107"/>
                  </a:lnTo>
                  <a:lnTo>
                    <a:pt x="4238" y="1107"/>
                  </a:lnTo>
                  <a:cubicBezTo>
                    <a:pt x="3427" y="1107"/>
                    <a:pt x="2713" y="661"/>
                    <a:pt x="23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45"/>
            <p:cNvSpPr/>
            <p:nvPr/>
          </p:nvSpPr>
          <p:spPr>
            <a:xfrm>
              <a:off x="5809404" y="2574218"/>
              <a:ext cx="78308" cy="35789"/>
            </a:xfrm>
            <a:custGeom>
              <a:avLst/>
              <a:gdLst/>
              <a:ahLst/>
              <a:cxnLst/>
              <a:rect l="l" t="t" r="r" b="b"/>
              <a:pathLst>
                <a:path w="2267" h="1036" extrusionOk="0">
                  <a:moveTo>
                    <a:pt x="1" y="1"/>
                  </a:moveTo>
                  <a:lnTo>
                    <a:pt x="1" y="1035"/>
                  </a:lnTo>
                  <a:lnTo>
                    <a:pt x="2124" y="1035"/>
                  </a:lnTo>
                  <a:cubicBezTo>
                    <a:pt x="2115" y="955"/>
                    <a:pt x="2115" y="884"/>
                    <a:pt x="2115" y="803"/>
                  </a:cubicBezTo>
                  <a:cubicBezTo>
                    <a:pt x="2115" y="518"/>
                    <a:pt x="2169" y="250"/>
                    <a:pt x="2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45"/>
            <p:cNvSpPr/>
            <p:nvPr/>
          </p:nvSpPr>
          <p:spPr>
            <a:xfrm>
              <a:off x="5904019" y="2496356"/>
              <a:ext cx="255200" cy="154623"/>
            </a:xfrm>
            <a:custGeom>
              <a:avLst/>
              <a:gdLst/>
              <a:ahLst/>
              <a:cxnLst/>
              <a:rect l="l" t="t" r="r" b="b"/>
              <a:pathLst>
                <a:path w="7388" h="4476" extrusionOk="0">
                  <a:moveTo>
                    <a:pt x="3254" y="0"/>
                  </a:moveTo>
                  <a:cubicBezTo>
                    <a:pt x="3184" y="0"/>
                    <a:pt x="3114" y="5"/>
                    <a:pt x="3043" y="15"/>
                  </a:cubicBezTo>
                  <a:cubicBezTo>
                    <a:pt x="2391" y="114"/>
                    <a:pt x="1856" y="756"/>
                    <a:pt x="1856" y="1416"/>
                  </a:cubicBezTo>
                  <a:lnTo>
                    <a:pt x="1856" y="1675"/>
                  </a:lnTo>
                  <a:lnTo>
                    <a:pt x="1526" y="1675"/>
                  </a:lnTo>
                  <a:cubicBezTo>
                    <a:pt x="830" y="1675"/>
                    <a:pt x="224" y="2183"/>
                    <a:pt x="126" y="2870"/>
                  </a:cubicBezTo>
                  <a:cubicBezTo>
                    <a:pt x="1" y="3735"/>
                    <a:pt x="670" y="4476"/>
                    <a:pt x="1508" y="4476"/>
                  </a:cubicBezTo>
                  <a:lnTo>
                    <a:pt x="6415" y="4476"/>
                  </a:lnTo>
                  <a:cubicBezTo>
                    <a:pt x="6950" y="4476"/>
                    <a:pt x="7387" y="4039"/>
                    <a:pt x="7387" y="3504"/>
                  </a:cubicBezTo>
                  <a:cubicBezTo>
                    <a:pt x="7387" y="2968"/>
                    <a:pt x="6950" y="2531"/>
                    <a:pt x="6415" y="2531"/>
                  </a:cubicBezTo>
                  <a:lnTo>
                    <a:pt x="6013" y="2531"/>
                  </a:lnTo>
                  <a:cubicBezTo>
                    <a:pt x="6192" y="2183"/>
                    <a:pt x="6129" y="1755"/>
                    <a:pt x="5844" y="1470"/>
                  </a:cubicBezTo>
                  <a:cubicBezTo>
                    <a:pt x="5665" y="1285"/>
                    <a:pt x="5430" y="1196"/>
                    <a:pt x="5196" y="1196"/>
                  </a:cubicBezTo>
                  <a:cubicBezTo>
                    <a:pt x="5010" y="1196"/>
                    <a:pt x="4824" y="1252"/>
                    <a:pt x="4666" y="1362"/>
                  </a:cubicBezTo>
                  <a:cubicBezTo>
                    <a:pt x="4642" y="610"/>
                    <a:pt x="4017" y="0"/>
                    <a:pt x="32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6" name="Google Shape;626;p45"/>
          <p:cNvGrpSpPr/>
          <p:nvPr/>
        </p:nvGrpSpPr>
        <p:grpSpPr>
          <a:xfrm>
            <a:off x="7056746" y="1434342"/>
            <a:ext cx="290308" cy="287940"/>
            <a:chOff x="6390600" y="2496563"/>
            <a:chExt cx="449951" cy="446281"/>
          </a:xfrm>
        </p:grpSpPr>
        <p:sp>
          <p:nvSpPr>
            <p:cNvPr id="627" name="Google Shape;627;p45"/>
            <p:cNvSpPr/>
            <p:nvPr/>
          </p:nvSpPr>
          <p:spPr>
            <a:xfrm>
              <a:off x="6390600" y="2496563"/>
              <a:ext cx="449951" cy="301440"/>
            </a:xfrm>
            <a:custGeom>
              <a:avLst/>
              <a:gdLst/>
              <a:ahLst/>
              <a:cxnLst/>
              <a:rect l="l" t="t" r="r" b="b"/>
              <a:pathLst>
                <a:path w="13026" h="8726" extrusionOk="0">
                  <a:moveTo>
                    <a:pt x="7286" y="0"/>
                  </a:moveTo>
                  <a:cubicBezTo>
                    <a:pt x="7275" y="0"/>
                    <a:pt x="7264" y="0"/>
                    <a:pt x="7254" y="0"/>
                  </a:cubicBezTo>
                  <a:cubicBezTo>
                    <a:pt x="5925" y="27"/>
                    <a:pt x="4854" y="1116"/>
                    <a:pt x="4854" y="2445"/>
                  </a:cubicBezTo>
                  <a:lnTo>
                    <a:pt x="4854" y="2454"/>
                  </a:lnTo>
                  <a:cubicBezTo>
                    <a:pt x="4702" y="2427"/>
                    <a:pt x="4542" y="2409"/>
                    <a:pt x="4372" y="2409"/>
                  </a:cubicBezTo>
                  <a:cubicBezTo>
                    <a:pt x="2972" y="2409"/>
                    <a:pt x="1839" y="3560"/>
                    <a:pt x="1839" y="4969"/>
                  </a:cubicBezTo>
                  <a:cubicBezTo>
                    <a:pt x="1839" y="5041"/>
                    <a:pt x="1839" y="5112"/>
                    <a:pt x="1848" y="5184"/>
                  </a:cubicBezTo>
                  <a:cubicBezTo>
                    <a:pt x="813" y="5201"/>
                    <a:pt x="1" y="6102"/>
                    <a:pt x="117" y="7164"/>
                  </a:cubicBezTo>
                  <a:cubicBezTo>
                    <a:pt x="224" y="8029"/>
                    <a:pt x="1036" y="8725"/>
                    <a:pt x="1901" y="8725"/>
                  </a:cubicBezTo>
                  <a:lnTo>
                    <a:pt x="4230" y="8725"/>
                  </a:lnTo>
                  <a:lnTo>
                    <a:pt x="4230" y="6664"/>
                  </a:lnTo>
                  <a:lnTo>
                    <a:pt x="6620" y="4283"/>
                  </a:lnTo>
                  <a:lnTo>
                    <a:pt x="11830" y="4283"/>
                  </a:lnTo>
                  <a:lnTo>
                    <a:pt x="11830" y="8047"/>
                  </a:lnTo>
                  <a:lnTo>
                    <a:pt x="11955" y="7940"/>
                  </a:lnTo>
                  <a:cubicBezTo>
                    <a:pt x="12482" y="7494"/>
                    <a:pt x="12847" y="6888"/>
                    <a:pt x="12972" y="6227"/>
                  </a:cubicBezTo>
                  <a:cubicBezTo>
                    <a:pt x="13008" y="6049"/>
                    <a:pt x="13026" y="5853"/>
                    <a:pt x="13026" y="5665"/>
                  </a:cubicBezTo>
                  <a:cubicBezTo>
                    <a:pt x="13026" y="3988"/>
                    <a:pt x="11652" y="2614"/>
                    <a:pt x="9966" y="2614"/>
                  </a:cubicBezTo>
                  <a:lnTo>
                    <a:pt x="9734" y="2614"/>
                  </a:lnTo>
                  <a:lnTo>
                    <a:pt x="9734" y="2472"/>
                  </a:lnTo>
                  <a:cubicBezTo>
                    <a:pt x="9734" y="1117"/>
                    <a:pt x="8636" y="0"/>
                    <a:pt x="72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45"/>
            <p:cNvSpPr/>
            <p:nvPr/>
          </p:nvSpPr>
          <p:spPr>
            <a:xfrm>
              <a:off x="6574268" y="2681476"/>
              <a:ext cx="43489" cy="43458"/>
            </a:xfrm>
            <a:custGeom>
              <a:avLst/>
              <a:gdLst/>
              <a:ahLst/>
              <a:cxnLst/>
              <a:rect l="l" t="t" r="r" b="b"/>
              <a:pathLst>
                <a:path w="1259" h="1258" extrusionOk="0">
                  <a:moveTo>
                    <a:pt x="1259" y="0"/>
                  </a:moveTo>
                  <a:lnTo>
                    <a:pt x="1" y="1258"/>
                  </a:lnTo>
                  <a:lnTo>
                    <a:pt x="1259" y="1258"/>
                  </a:lnTo>
                  <a:lnTo>
                    <a:pt x="12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45"/>
            <p:cNvSpPr/>
            <p:nvPr/>
          </p:nvSpPr>
          <p:spPr>
            <a:xfrm>
              <a:off x="6561971" y="2669766"/>
              <a:ext cx="212022" cy="273078"/>
            </a:xfrm>
            <a:custGeom>
              <a:avLst/>
              <a:gdLst/>
              <a:ahLst/>
              <a:cxnLst/>
              <a:rect l="l" t="t" r="r" b="b"/>
              <a:pathLst>
                <a:path w="6138" h="7905" extrusionOk="0">
                  <a:moveTo>
                    <a:pt x="2373" y="0"/>
                  </a:moveTo>
                  <a:lnTo>
                    <a:pt x="2373" y="2355"/>
                  </a:lnTo>
                  <a:lnTo>
                    <a:pt x="0" y="2355"/>
                  </a:lnTo>
                  <a:lnTo>
                    <a:pt x="0" y="7904"/>
                  </a:lnTo>
                  <a:lnTo>
                    <a:pt x="6138" y="7904"/>
                  </a:lnTo>
                  <a:lnTo>
                    <a:pt x="61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0" name="Google Shape;630;p45"/>
          <p:cNvGrpSpPr/>
          <p:nvPr/>
        </p:nvGrpSpPr>
        <p:grpSpPr>
          <a:xfrm>
            <a:off x="1800530" y="1434244"/>
            <a:ext cx="282939" cy="288136"/>
            <a:chOff x="6982919" y="2496563"/>
            <a:chExt cx="438529" cy="446584"/>
          </a:xfrm>
        </p:grpSpPr>
        <p:sp>
          <p:nvSpPr>
            <p:cNvPr id="631" name="Google Shape;631;p45"/>
            <p:cNvSpPr/>
            <p:nvPr/>
          </p:nvSpPr>
          <p:spPr>
            <a:xfrm>
              <a:off x="7006340" y="2682063"/>
              <a:ext cx="280140" cy="175385"/>
            </a:xfrm>
            <a:custGeom>
              <a:avLst/>
              <a:gdLst/>
              <a:ahLst/>
              <a:cxnLst/>
              <a:rect l="l" t="t" r="r" b="b"/>
              <a:pathLst>
                <a:path w="8110" h="5077" extrusionOk="0">
                  <a:moveTo>
                    <a:pt x="0" y="1"/>
                  </a:moveTo>
                  <a:lnTo>
                    <a:pt x="0" y="5077"/>
                  </a:lnTo>
                  <a:lnTo>
                    <a:pt x="8109" y="5077"/>
                  </a:lnTo>
                  <a:lnTo>
                    <a:pt x="8109" y="947"/>
                  </a:lnTo>
                  <a:cubicBezTo>
                    <a:pt x="7503" y="777"/>
                    <a:pt x="6959" y="447"/>
                    <a:pt x="6522" y="1"/>
                  </a:cubicBezTo>
                  <a:lnTo>
                    <a:pt x="4425" y="1"/>
                  </a:lnTo>
                  <a:lnTo>
                    <a:pt x="4425" y="1366"/>
                  </a:lnTo>
                  <a:cubicBezTo>
                    <a:pt x="4996" y="1535"/>
                    <a:pt x="5397" y="2088"/>
                    <a:pt x="5353" y="2722"/>
                  </a:cubicBezTo>
                  <a:cubicBezTo>
                    <a:pt x="5299" y="3364"/>
                    <a:pt x="4782" y="3882"/>
                    <a:pt x="4149" y="3926"/>
                  </a:cubicBezTo>
                  <a:cubicBezTo>
                    <a:pt x="4112" y="3929"/>
                    <a:pt x="4075" y="3931"/>
                    <a:pt x="4039" y="3931"/>
                  </a:cubicBezTo>
                  <a:cubicBezTo>
                    <a:pt x="3313" y="3931"/>
                    <a:pt x="2730" y="3346"/>
                    <a:pt x="2730" y="2624"/>
                  </a:cubicBezTo>
                  <a:cubicBezTo>
                    <a:pt x="2730" y="2026"/>
                    <a:pt x="3123" y="1526"/>
                    <a:pt x="3667" y="1366"/>
                  </a:cubicBezTo>
                  <a:lnTo>
                    <a:pt x="36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45"/>
            <p:cNvSpPr/>
            <p:nvPr/>
          </p:nvSpPr>
          <p:spPr>
            <a:xfrm>
              <a:off x="7126828" y="2753569"/>
              <a:ext cx="38549" cy="38241"/>
            </a:xfrm>
            <a:custGeom>
              <a:avLst/>
              <a:gdLst/>
              <a:ahLst/>
              <a:cxnLst/>
              <a:rect l="l" t="t" r="r" b="b"/>
              <a:pathLst>
                <a:path w="1116" h="1107" extrusionOk="0">
                  <a:moveTo>
                    <a:pt x="553" y="1"/>
                  </a:moveTo>
                  <a:cubicBezTo>
                    <a:pt x="250" y="1"/>
                    <a:pt x="0" y="250"/>
                    <a:pt x="0" y="554"/>
                  </a:cubicBezTo>
                  <a:cubicBezTo>
                    <a:pt x="0" y="857"/>
                    <a:pt x="250" y="1107"/>
                    <a:pt x="553" y="1107"/>
                  </a:cubicBezTo>
                  <a:cubicBezTo>
                    <a:pt x="866" y="1107"/>
                    <a:pt x="1115" y="857"/>
                    <a:pt x="1115" y="554"/>
                  </a:cubicBezTo>
                  <a:cubicBezTo>
                    <a:pt x="1115" y="250"/>
                    <a:pt x="866" y="1"/>
                    <a:pt x="5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45"/>
            <p:cNvSpPr/>
            <p:nvPr/>
          </p:nvSpPr>
          <p:spPr>
            <a:xfrm>
              <a:off x="7132977" y="2581921"/>
              <a:ext cx="62902" cy="100181"/>
            </a:xfrm>
            <a:custGeom>
              <a:avLst/>
              <a:gdLst/>
              <a:ahLst/>
              <a:cxnLst/>
              <a:rect l="l" t="t" r="r" b="b"/>
              <a:pathLst>
                <a:path w="1821" h="2900" extrusionOk="0">
                  <a:moveTo>
                    <a:pt x="1" y="1"/>
                  </a:moveTo>
                  <a:lnTo>
                    <a:pt x="1" y="2900"/>
                  </a:lnTo>
                  <a:lnTo>
                    <a:pt x="759" y="2900"/>
                  </a:lnTo>
                  <a:lnTo>
                    <a:pt x="759" y="759"/>
                  </a:lnTo>
                  <a:lnTo>
                    <a:pt x="1821" y="759"/>
                  </a:lnTo>
                  <a:cubicBezTo>
                    <a:pt x="1812" y="625"/>
                    <a:pt x="1803" y="491"/>
                    <a:pt x="1803" y="357"/>
                  </a:cubicBezTo>
                  <a:cubicBezTo>
                    <a:pt x="1803" y="233"/>
                    <a:pt x="1803" y="117"/>
                    <a:pt x="18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45"/>
            <p:cNvSpPr/>
            <p:nvPr/>
          </p:nvSpPr>
          <p:spPr>
            <a:xfrm>
              <a:off x="6982919" y="2882693"/>
              <a:ext cx="324527" cy="60454"/>
            </a:xfrm>
            <a:custGeom>
              <a:avLst/>
              <a:gdLst/>
              <a:ahLst/>
              <a:cxnLst/>
              <a:rect l="l" t="t" r="r" b="b"/>
              <a:pathLst>
                <a:path w="9395" h="1750" extrusionOk="0">
                  <a:moveTo>
                    <a:pt x="0" y="1"/>
                  </a:moveTo>
                  <a:lnTo>
                    <a:pt x="0" y="402"/>
                  </a:lnTo>
                  <a:cubicBezTo>
                    <a:pt x="0" y="1142"/>
                    <a:pt x="598" y="1749"/>
                    <a:pt x="1347" y="1749"/>
                  </a:cubicBezTo>
                  <a:lnTo>
                    <a:pt x="8047" y="1749"/>
                  </a:lnTo>
                  <a:cubicBezTo>
                    <a:pt x="8787" y="1749"/>
                    <a:pt x="9394" y="1142"/>
                    <a:pt x="9394" y="402"/>
                  </a:cubicBezTo>
                  <a:lnTo>
                    <a:pt x="93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45"/>
            <p:cNvSpPr/>
            <p:nvPr/>
          </p:nvSpPr>
          <p:spPr>
            <a:xfrm>
              <a:off x="7302171" y="2503645"/>
              <a:ext cx="37306" cy="41661"/>
            </a:xfrm>
            <a:custGeom>
              <a:avLst/>
              <a:gdLst/>
              <a:ahLst/>
              <a:cxnLst/>
              <a:rect l="l" t="t" r="r" b="b"/>
              <a:pathLst>
                <a:path w="1080" h="1206" extrusionOk="0">
                  <a:moveTo>
                    <a:pt x="545" y="1"/>
                  </a:moveTo>
                  <a:cubicBezTo>
                    <a:pt x="313" y="349"/>
                    <a:pt x="125" y="759"/>
                    <a:pt x="0" y="1205"/>
                  </a:cubicBezTo>
                  <a:lnTo>
                    <a:pt x="1080" y="1205"/>
                  </a:lnTo>
                  <a:cubicBezTo>
                    <a:pt x="964" y="759"/>
                    <a:pt x="777" y="349"/>
                    <a:pt x="5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45"/>
            <p:cNvSpPr/>
            <p:nvPr/>
          </p:nvSpPr>
          <p:spPr>
            <a:xfrm>
              <a:off x="7347458" y="2496563"/>
              <a:ext cx="61382" cy="48743"/>
            </a:xfrm>
            <a:custGeom>
              <a:avLst/>
              <a:gdLst/>
              <a:ahLst/>
              <a:cxnLst/>
              <a:rect l="l" t="t" r="r" b="b"/>
              <a:pathLst>
                <a:path w="1777" h="1411" extrusionOk="0">
                  <a:moveTo>
                    <a:pt x="1" y="0"/>
                  </a:moveTo>
                  <a:cubicBezTo>
                    <a:pt x="251" y="411"/>
                    <a:pt x="429" y="902"/>
                    <a:pt x="554" y="1410"/>
                  </a:cubicBezTo>
                  <a:lnTo>
                    <a:pt x="1776" y="1410"/>
                  </a:lnTo>
                  <a:cubicBezTo>
                    <a:pt x="1401" y="732"/>
                    <a:pt x="768" y="206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45"/>
            <p:cNvSpPr/>
            <p:nvPr/>
          </p:nvSpPr>
          <p:spPr>
            <a:xfrm>
              <a:off x="7347458" y="2641094"/>
              <a:ext cx="61969" cy="49641"/>
            </a:xfrm>
            <a:custGeom>
              <a:avLst/>
              <a:gdLst/>
              <a:ahLst/>
              <a:cxnLst/>
              <a:rect l="l" t="t" r="r" b="b"/>
              <a:pathLst>
                <a:path w="1794" h="1437" extrusionOk="0">
                  <a:moveTo>
                    <a:pt x="563" y="0"/>
                  </a:moveTo>
                  <a:cubicBezTo>
                    <a:pt x="438" y="527"/>
                    <a:pt x="251" y="1017"/>
                    <a:pt x="1" y="1437"/>
                  </a:cubicBezTo>
                  <a:cubicBezTo>
                    <a:pt x="777" y="1223"/>
                    <a:pt x="1428" y="696"/>
                    <a:pt x="17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45"/>
            <p:cNvSpPr/>
            <p:nvPr/>
          </p:nvSpPr>
          <p:spPr>
            <a:xfrm>
              <a:off x="7220510" y="2571454"/>
              <a:ext cx="50570" cy="43492"/>
            </a:xfrm>
            <a:custGeom>
              <a:avLst/>
              <a:gdLst/>
              <a:ahLst/>
              <a:cxnLst/>
              <a:rect l="l" t="t" r="r" b="b"/>
              <a:pathLst>
                <a:path w="1464" h="1259" extrusionOk="0">
                  <a:moveTo>
                    <a:pt x="72" y="0"/>
                  </a:moveTo>
                  <a:cubicBezTo>
                    <a:pt x="27" y="205"/>
                    <a:pt x="0" y="429"/>
                    <a:pt x="0" y="652"/>
                  </a:cubicBezTo>
                  <a:cubicBezTo>
                    <a:pt x="0" y="857"/>
                    <a:pt x="27" y="1062"/>
                    <a:pt x="63" y="1258"/>
                  </a:cubicBezTo>
                  <a:lnTo>
                    <a:pt x="1454" y="1258"/>
                  </a:lnTo>
                  <a:cubicBezTo>
                    <a:pt x="1437" y="1062"/>
                    <a:pt x="1428" y="857"/>
                    <a:pt x="1428" y="652"/>
                  </a:cubicBezTo>
                  <a:cubicBezTo>
                    <a:pt x="1428" y="429"/>
                    <a:pt x="1437" y="214"/>
                    <a:pt x="14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45"/>
            <p:cNvSpPr/>
            <p:nvPr/>
          </p:nvSpPr>
          <p:spPr>
            <a:xfrm>
              <a:off x="7233153" y="2496563"/>
              <a:ext cx="61037" cy="48743"/>
            </a:xfrm>
            <a:custGeom>
              <a:avLst/>
              <a:gdLst/>
              <a:ahLst/>
              <a:cxnLst/>
              <a:rect l="l" t="t" r="r" b="b"/>
              <a:pathLst>
                <a:path w="1767" h="1411" extrusionOk="0">
                  <a:moveTo>
                    <a:pt x="1766" y="0"/>
                  </a:moveTo>
                  <a:lnTo>
                    <a:pt x="1766" y="0"/>
                  </a:lnTo>
                  <a:cubicBezTo>
                    <a:pt x="1008" y="206"/>
                    <a:pt x="375" y="732"/>
                    <a:pt x="0" y="1410"/>
                  </a:cubicBezTo>
                  <a:lnTo>
                    <a:pt x="1222" y="1410"/>
                  </a:lnTo>
                  <a:cubicBezTo>
                    <a:pt x="1338" y="902"/>
                    <a:pt x="1526" y="411"/>
                    <a:pt x="17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45"/>
            <p:cNvSpPr/>
            <p:nvPr/>
          </p:nvSpPr>
          <p:spPr>
            <a:xfrm>
              <a:off x="7232220" y="2641094"/>
              <a:ext cx="61969" cy="49641"/>
            </a:xfrm>
            <a:custGeom>
              <a:avLst/>
              <a:gdLst/>
              <a:ahLst/>
              <a:cxnLst/>
              <a:rect l="l" t="t" r="r" b="b"/>
              <a:pathLst>
                <a:path w="1794" h="1437" extrusionOk="0">
                  <a:moveTo>
                    <a:pt x="0" y="0"/>
                  </a:moveTo>
                  <a:cubicBezTo>
                    <a:pt x="375" y="696"/>
                    <a:pt x="1026" y="1223"/>
                    <a:pt x="1793" y="1437"/>
                  </a:cubicBezTo>
                  <a:cubicBezTo>
                    <a:pt x="1553" y="1017"/>
                    <a:pt x="1356" y="527"/>
                    <a:pt x="1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45"/>
            <p:cNvSpPr/>
            <p:nvPr/>
          </p:nvSpPr>
          <p:spPr>
            <a:xfrm>
              <a:off x="7370878" y="2571454"/>
              <a:ext cx="50570" cy="43492"/>
            </a:xfrm>
            <a:custGeom>
              <a:avLst/>
              <a:gdLst/>
              <a:ahLst/>
              <a:cxnLst/>
              <a:rect l="l" t="t" r="r" b="b"/>
              <a:pathLst>
                <a:path w="1464" h="1259" extrusionOk="0">
                  <a:moveTo>
                    <a:pt x="1" y="0"/>
                  </a:moveTo>
                  <a:cubicBezTo>
                    <a:pt x="28" y="214"/>
                    <a:pt x="37" y="429"/>
                    <a:pt x="37" y="652"/>
                  </a:cubicBezTo>
                  <a:cubicBezTo>
                    <a:pt x="37" y="857"/>
                    <a:pt x="28" y="1062"/>
                    <a:pt x="1" y="1258"/>
                  </a:cubicBezTo>
                  <a:lnTo>
                    <a:pt x="1401" y="1258"/>
                  </a:lnTo>
                  <a:cubicBezTo>
                    <a:pt x="1437" y="1062"/>
                    <a:pt x="1464" y="857"/>
                    <a:pt x="1464" y="652"/>
                  </a:cubicBezTo>
                  <a:cubicBezTo>
                    <a:pt x="1464" y="429"/>
                    <a:pt x="1437" y="205"/>
                    <a:pt x="13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45"/>
            <p:cNvSpPr/>
            <p:nvPr/>
          </p:nvSpPr>
          <p:spPr>
            <a:xfrm>
              <a:off x="7296022" y="2571454"/>
              <a:ext cx="49948" cy="43492"/>
            </a:xfrm>
            <a:custGeom>
              <a:avLst/>
              <a:gdLst/>
              <a:ahLst/>
              <a:cxnLst/>
              <a:rect l="l" t="t" r="r" b="b"/>
              <a:pathLst>
                <a:path w="1446" h="1259" extrusionOk="0">
                  <a:moveTo>
                    <a:pt x="36" y="0"/>
                  </a:moveTo>
                  <a:cubicBezTo>
                    <a:pt x="9" y="214"/>
                    <a:pt x="0" y="429"/>
                    <a:pt x="0" y="652"/>
                  </a:cubicBezTo>
                  <a:cubicBezTo>
                    <a:pt x="0" y="857"/>
                    <a:pt x="9" y="1062"/>
                    <a:pt x="36" y="1258"/>
                  </a:cubicBezTo>
                  <a:lnTo>
                    <a:pt x="1410" y="1258"/>
                  </a:lnTo>
                  <a:cubicBezTo>
                    <a:pt x="1436" y="1062"/>
                    <a:pt x="1445" y="857"/>
                    <a:pt x="1445" y="652"/>
                  </a:cubicBezTo>
                  <a:cubicBezTo>
                    <a:pt x="1445" y="429"/>
                    <a:pt x="1427" y="214"/>
                    <a:pt x="14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45"/>
            <p:cNvSpPr/>
            <p:nvPr/>
          </p:nvSpPr>
          <p:spPr>
            <a:xfrm>
              <a:off x="7301860" y="2641094"/>
              <a:ext cx="38239" cy="42870"/>
            </a:xfrm>
            <a:custGeom>
              <a:avLst/>
              <a:gdLst/>
              <a:ahLst/>
              <a:cxnLst/>
              <a:rect l="l" t="t" r="r" b="b"/>
              <a:pathLst>
                <a:path w="1107" h="1241" extrusionOk="0">
                  <a:moveTo>
                    <a:pt x="1" y="0"/>
                  </a:moveTo>
                  <a:cubicBezTo>
                    <a:pt x="125" y="464"/>
                    <a:pt x="313" y="884"/>
                    <a:pt x="554" y="1240"/>
                  </a:cubicBezTo>
                  <a:cubicBezTo>
                    <a:pt x="794" y="884"/>
                    <a:pt x="982" y="464"/>
                    <a:pt x="1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44" name="Google Shape;644;p45"/>
          <p:cNvCxnSpPr>
            <a:stCxn id="582" idx="1"/>
            <a:endCxn id="590" idx="1"/>
          </p:cNvCxnSpPr>
          <p:nvPr/>
        </p:nvCxnSpPr>
        <p:spPr>
          <a:xfrm rot="10800000" flipH="1">
            <a:off x="1069450" y="1578200"/>
            <a:ext cx="630300" cy="456300"/>
          </a:xfrm>
          <a:prstGeom prst="bentConnector3">
            <a:avLst>
              <a:gd name="adj1" fmla="val -3778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5" name="Google Shape;645;p45"/>
          <p:cNvCxnSpPr>
            <a:stCxn id="582" idx="3"/>
            <a:endCxn id="590" idx="3"/>
          </p:cNvCxnSpPr>
          <p:nvPr/>
        </p:nvCxnSpPr>
        <p:spPr>
          <a:xfrm rot="10800000">
            <a:off x="2184250" y="1578200"/>
            <a:ext cx="630300" cy="456300"/>
          </a:xfrm>
          <a:prstGeom prst="bentConnector3">
            <a:avLst>
              <a:gd name="adj1" fmla="val -3778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6" name="Google Shape;646;p45"/>
          <p:cNvCxnSpPr>
            <a:stCxn id="591" idx="1"/>
            <a:endCxn id="584" idx="1"/>
          </p:cNvCxnSpPr>
          <p:nvPr/>
        </p:nvCxnSpPr>
        <p:spPr>
          <a:xfrm flipH="1">
            <a:off x="3699400" y="1578312"/>
            <a:ext cx="630300" cy="456300"/>
          </a:xfrm>
          <a:prstGeom prst="bentConnector3">
            <a:avLst>
              <a:gd name="adj1" fmla="val 137779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7" name="Google Shape;647;p45"/>
          <p:cNvCxnSpPr>
            <a:stCxn id="592" idx="3"/>
            <a:endCxn id="580" idx="3"/>
          </p:cNvCxnSpPr>
          <p:nvPr/>
        </p:nvCxnSpPr>
        <p:spPr>
          <a:xfrm>
            <a:off x="7444150" y="1578312"/>
            <a:ext cx="630300" cy="456300"/>
          </a:xfrm>
          <a:prstGeom prst="bentConnector3">
            <a:avLst>
              <a:gd name="adj1" fmla="val 13778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8" name="Google Shape;648;p45"/>
          <p:cNvCxnSpPr>
            <a:stCxn id="592" idx="1"/>
            <a:endCxn id="580" idx="1"/>
          </p:cNvCxnSpPr>
          <p:nvPr/>
        </p:nvCxnSpPr>
        <p:spPr>
          <a:xfrm flipH="1">
            <a:off x="6329350" y="1578312"/>
            <a:ext cx="630300" cy="456300"/>
          </a:xfrm>
          <a:prstGeom prst="bentConnector3">
            <a:avLst>
              <a:gd name="adj1" fmla="val 13778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9" name="Google Shape;649;p45"/>
          <p:cNvCxnSpPr>
            <a:stCxn id="591" idx="3"/>
            <a:endCxn id="584" idx="3"/>
          </p:cNvCxnSpPr>
          <p:nvPr/>
        </p:nvCxnSpPr>
        <p:spPr>
          <a:xfrm>
            <a:off x="4814200" y="1578312"/>
            <a:ext cx="630300" cy="456300"/>
          </a:xfrm>
          <a:prstGeom prst="bentConnector3">
            <a:avLst>
              <a:gd name="adj1" fmla="val 13778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0" name="Google Shape;650;p45"/>
          <p:cNvCxnSpPr>
            <a:stCxn id="586" idx="3"/>
            <a:endCxn id="593" idx="3"/>
          </p:cNvCxnSpPr>
          <p:nvPr/>
        </p:nvCxnSpPr>
        <p:spPr>
          <a:xfrm rot="10800000">
            <a:off x="2184250" y="3361452"/>
            <a:ext cx="630300" cy="456300"/>
          </a:xfrm>
          <a:prstGeom prst="bentConnector3">
            <a:avLst>
              <a:gd name="adj1" fmla="val -3778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1" name="Google Shape;651;p45"/>
          <p:cNvCxnSpPr>
            <a:stCxn id="586" idx="1"/>
            <a:endCxn id="593" idx="1"/>
          </p:cNvCxnSpPr>
          <p:nvPr/>
        </p:nvCxnSpPr>
        <p:spPr>
          <a:xfrm rot="10800000" flipH="1">
            <a:off x="1069450" y="3361452"/>
            <a:ext cx="630300" cy="456300"/>
          </a:xfrm>
          <a:prstGeom prst="bentConnector3">
            <a:avLst>
              <a:gd name="adj1" fmla="val -3778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2" name="Google Shape;652;p45"/>
          <p:cNvCxnSpPr>
            <a:stCxn id="594" idx="1"/>
            <a:endCxn id="588" idx="1"/>
          </p:cNvCxnSpPr>
          <p:nvPr/>
        </p:nvCxnSpPr>
        <p:spPr>
          <a:xfrm flipH="1">
            <a:off x="3699400" y="3361587"/>
            <a:ext cx="630300" cy="456300"/>
          </a:xfrm>
          <a:prstGeom prst="bentConnector3">
            <a:avLst>
              <a:gd name="adj1" fmla="val 13778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3" name="Google Shape;653;p45"/>
          <p:cNvCxnSpPr>
            <a:stCxn id="594" idx="3"/>
            <a:endCxn id="588" idx="3"/>
          </p:cNvCxnSpPr>
          <p:nvPr/>
        </p:nvCxnSpPr>
        <p:spPr>
          <a:xfrm>
            <a:off x="4814200" y="3361587"/>
            <a:ext cx="630300" cy="456300"/>
          </a:xfrm>
          <a:prstGeom prst="bentConnector3">
            <a:avLst>
              <a:gd name="adj1" fmla="val 13778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4" name="Google Shape;654;p45"/>
          <p:cNvCxnSpPr>
            <a:stCxn id="595" idx="1"/>
            <a:endCxn id="581" idx="1"/>
          </p:cNvCxnSpPr>
          <p:nvPr/>
        </p:nvCxnSpPr>
        <p:spPr>
          <a:xfrm flipH="1">
            <a:off x="6329350" y="3361587"/>
            <a:ext cx="630300" cy="456300"/>
          </a:xfrm>
          <a:prstGeom prst="bentConnector3">
            <a:avLst>
              <a:gd name="adj1" fmla="val 13778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5" name="Google Shape;655;p45"/>
          <p:cNvCxnSpPr>
            <a:stCxn id="595" idx="3"/>
            <a:endCxn id="581" idx="3"/>
          </p:cNvCxnSpPr>
          <p:nvPr/>
        </p:nvCxnSpPr>
        <p:spPr>
          <a:xfrm>
            <a:off x="7444150" y="3361587"/>
            <a:ext cx="630300" cy="456300"/>
          </a:xfrm>
          <a:prstGeom prst="bentConnector3">
            <a:avLst>
              <a:gd name="adj1" fmla="val 13778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56" name="Google Shape;656;p45"/>
          <p:cNvGrpSpPr/>
          <p:nvPr/>
        </p:nvGrpSpPr>
        <p:grpSpPr>
          <a:xfrm>
            <a:off x="405288" y="860175"/>
            <a:ext cx="171000" cy="3574050"/>
            <a:chOff x="5816800" y="2392275"/>
            <a:chExt cx="171000" cy="3574050"/>
          </a:xfrm>
        </p:grpSpPr>
        <p:sp>
          <p:nvSpPr>
            <p:cNvPr id="657" name="Google Shape;657;p45"/>
            <p:cNvSpPr/>
            <p:nvPr/>
          </p:nvSpPr>
          <p:spPr>
            <a:xfrm>
              <a:off x="5816800" y="5896425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58" name="Google Shape;658;p45"/>
            <p:cNvCxnSpPr>
              <a:stCxn id="657" idx="2"/>
              <a:endCxn id="576" idx="1"/>
            </p:cNvCxnSpPr>
            <p:nvPr/>
          </p:nvCxnSpPr>
          <p:spPr>
            <a:xfrm rot="10800000" flipH="1">
              <a:off x="5816800" y="2392275"/>
              <a:ext cx="171000" cy="3539100"/>
            </a:xfrm>
            <a:prstGeom prst="bentConnector3">
              <a:avLst>
                <a:gd name="adj1" fmla="val -139254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59" name="Google Shape;659;p45"/>
          <p:cNvGrpSpPr/>
          <p:nvPr/>
        </p:nvGrpSpPr>
        <p:grpSpPr>
          <a:xfrm flipH="1">
            <a:off x="8567798" y="860175"/>
            <a:ext cx="171000" cy="3574050"/>
            <a:chOff x="5816800" y="2392275"/>
            <a:chExt cx="171000" cy="3574050"/>
          </a:xfrm>
        </p:grpSpPr>
        <p:sp>
          <p:nvSpPr>
            <p:cNvPr id="660" name="Google Shape;660;p45"/>
            <p:cNvSpPr/>
            <p:nvPr/>
          </p:nvSpPr>
          <p:spPr>
            <a:xfrm>
              <a:off x="5816800" y="5896425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61" name="Google Shape;661;p45"/>
            <p:cNvCxnSpPr>
              <a:stCxn id="660" idx="2"/>
              <a:endCxn id="576" idx="3"/>
            </p:cNvCxnSpPr>
            <p:nvPr/>
          </p:nvCxnSpPr>
          <p:spPr>
            <a:xfrm rot="10800000" flipH="1">
              <a:off x="5816800" y="2392275"/>
              <a:ext cx="171000" cy="3539100"/>
            </a:xfrm>
            <a:prstGeom prst="bentConnector3">
              <a:avLst>
                <a:gd name="adj1" fmla="val -139254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62" name="Google Shape;662;p45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2600">
                <a:solidFill>
                  <a:schemeClr val="dk1"/>
                </a:solidFill>
              </a:rPr>
              <a:t>SERVICES WE USED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49"/>
          <p:cNvSpPr/>
          <p:nvPr/>
        </p:nvSpPr>
        <p:spPr>
          <a:xfrm>
            <a:off x="4146222" y="652500"/>
            <a:ext cx="4519500" cy="38385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49"/>
          <p:cNvSpPr/>
          <p:nvPr/>
        </p:nvSpPr>
        <p:spPr>
          <a:xfrm>
            <a:off x="804950" y="1035325"/>
            <a:ext cx="3401400" cy="4848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49"/>
          <p:cNvSpPr txBox="1">
            <a:spLocks noGrp="1"/>
          </p:cNvSpPr>
          <p:nvPr>
            <p:ph type="body" idx="1"/>
          </p:nvPr>
        </p:nvSpPr>
        <p:spPr>
          <a:xfrm>
            <a:off x="905525" y="1691640"/>
            <a:ext cx="3200400" cy="2651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500">
                <a:solidFill>
                  <a:srgbClr val="5EE6C9"/>
                </a:solidFill>
              </a:rPr>
              <a:t>WHAT WE DID</a:t>
            </a:r>
            <a:endParaRPr/>
          </a:p>
          <a:p>
            <a:pPr marL="256032" lvl="0" indent="-201168" algn="l" rtl="0">
              <a:spcBef>
                <a:spcPts val="0"/>
              </a:spcBef>
              <a:spcAft>
                <a:spcPts val="1000"/>
              </a:spcAft>
              <a:buChar char="•"/>
            </a:pPr>
            <a:r>
              <a:rPr lang="en" sz="1900"/>
              <a:t>Stored 425 history files</a:t>
            </a:r>
            <a:endParaRPr/>
          </a:p>
          <a:p>
            <a:pPr marL="256032" lvl="0" indent="-201168" algn="l" rtl="0">
              <a:spcBef>
                <a:spcPts val="0"/>
              </a:spcBef>
              <a:spcAft>
                <a:spcPts val="1000"/>
              </a:spcAft>
              <a:buChar char="•"/>
            </a:pPr>
            <a:r>
              <a:rPr lang="en" sz="1900"/>
              <a:t>New snapshot every day per service</a:t>
            </a:r>
            <a:endParaRPr/>
          </a:p>
          <a:p>
            <a:pPr marL="256032" lvl="0" indent="-201168" algn="l" rtl="0">
              <a:spcBef>
                <a:spcPts val="0"/>
              </a:spcBef>
              <a:spcAft>
                <a:spcPts val="1000"/>
              </a:spcAft>
              <a:buChar char="•"/>
            </a:pPr>
            <a:r>
              <a:rPr lang="en" sz="1900"/>
              <a:t>Holds config and daily exports</a:t>
            </a:r>
            <a:endParaRPr/>
          </a:p>
        </p:txBody>
      </p:sp>
      <p:grpSp>
        <p:nvGrpSpPr>
          <p:cNvPr id="739" name="Google Shape;739;p49"/>
          <p:cNvGrpSpPr/>
          <p:nvPr/>
        </p:nvGrpSpPr>
        <p:grpSpPr>
          <a:xfrm>
            <a:off x="405288" y="1277775"/>
            <a:ext cx="399600" cy="3156450"/>
            <a:chOff x="5816800" y="2809875"/>
            <a:chExt cx="399600" cy="3156450"/>
          </a:xfrm>
        </p:grpSpPr>
        <p:sp>
          <p:nvSpPr>
            <p:cNvPr id="740" name="Google Shape;740;p49"/>
            <p:cNvSpPr/>
            <p:nvPr/>
          </p:nvSpPr>
          <p:spPr>
            <a:xfrm>
              <a:off x="5816800" y="5896425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41" name="Google Shape;741;p49"/>
            <p:cNvCxnSpPr>
              <a:stCxn id="740" idx="2"/>
              <a:endCxn id="736" idx="1"/>
            </p:cNvCxnSpPr>
            <p:nvPr/>
          </p:nvCxnSpPr>
          <p:spPr>
            <a:xfrm rot="10800000" flipH="1">
              <a:off x="5816800" y="2809875"/>
              <a:ext cx="399600" cy="3121500"/>
            </a:xfrm>
            <a:prstGeom prst="bentConnector3">
              <a:avLst>
                <a:gd name="adj1" fmla="val -59591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42" name="Google Shape;742;p49"/>
          <p:cNvSpPr txBox="1">
            <a:spLocks noGrp="1"/>
          </p:cNvSpPr>
          <p:nvPr>
            <p:ph type="title"/>
          </p:nvPr>
        </p:nvSpPr>
        <p:spPr>
          <a:xfrm>
            <a:off x="905550" y="959188"/>
            <a:ext cx="3243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" sz="2400">
                <a:solidFill>
                  <a:schemeClr val="dk1"/>
                </a:solidFill>
              </a:rPr>
              <a:t>AMAZON S3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43" name="Screenshot 1" descr="S3 bucket pdd-snigdha-data, raw/ folder with one folder per servi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052" y="685800"/>
            <a:ext cx="2366415" cy="1874519"/>
          </a:xfrm>
          <a:prstGeom prst="rect">
            <a:avLst/>
          </a:prstGeom>
          <a:ln w="15875">
            <a:solidFill>
              <a:srgbClr val="5EE6C9"/>
            </a:solidFill>
          </a:ln>
        </p:spPr>
      </p:pic>
      <p:pic>
        <p:nvPicPr>
          <p:cNvPr id="744" name="Screenshot 2" descr="S3 raw/icloud/IN/ with versions on: one file per day, a new version per scheduled ru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801711"/>
            <a:ext cx="4526280" cy="1666056"/>
          </a:xfrm>
          <a:prstGeom prst="rect">
            <a:avLst/>
          </a:prstGeom>
          <a:ln w="15875">
            <a:solidFill>
              <a:srgbClr val="5EE6C9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49"/>
          <p:cNvSpPr/>
          <p:nvPr/>
        </p:nvSpPr>
        <p:spPr>
          <a:xfrm>
            <a:off x="4146222" y="652500"/>
            <a:ext cx="4519500" cy="38385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49"/>
          <p:cNvSpPr/>
          <p:nvPr/>
        </p:nvSpPr>
        <p:spPr>
          <a:xfrm>
            <a:off x="804950" y="1035325"/>
            <a:ext cx="3401400" cy="4848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49"/>
          <p:cNvSpPr txBox="1">
            <a:spLocks noGrp="1"/>
          </p:cNvSpPr>
          <p:nvPr>
            <p:ph type="body" idx="1"/>
          </p:nvPr>
        </p:nvSpPr>
        <p:spPr>
          <a:xfrm>
            <a:off x="905525" y="1691640"/>
            <a:ext cx="3200400" cy="2651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500">
                <a:solidFill>
                  <a:srgbClr val="5EE6C9"/>
                </a:solidFill>
              </a:rPr>
              <a:t>WHAT WE DID</a:t>
            </a:r>
            <a:endParaRPr/>
          </a:p>
          <a:p>
            <a:pPr marL="256032" lvl="0" indent="-201168" algn="l" rtl="0">
              <a:spcBef>
                <a:spcPts val="0"/>
              </a:spcBef>
              <a:spcAft>
                <a:spcPts val="1000"/>
              </a:spcAft>
              <a:buChar char="•"/>
            </a:pPr>
            <a:r>
              <a:rPr lang="en" sz="1900"/>
              <a:t>7 functions, no servers</a:t>
            </a:r>
            <a:endParaRPr/>
          </a:p>
          <a:p>
            <a:pPr marL="256032" lvl="0" indent="-201168" algn="l" rtl="0">
              <a:spcBef>
                <a:spcPts val="0"/>
              </a:spcBef>
              <a:spcAft>
                <a:spcPts val="1000"/>
              </a:spcAft>
              <a:buChar char="•"/>
            </a:pPr>
            <a:r>
              <a:rPr lang="en" sz="1900"/>
              <a:t>Scraper runs our Python code</a:t>
            </a:r>
            <a:endParaRPr/>
          </a:p>
          <a:p>
            <a:pPr marL="256032" lvl="0" indent="-201168" algn="l" rtl="0">
              <a:spcBef>
                <a:spcPts val="0"/>
              </a:spcBef>
              <a:spcAft>
                <a:spcPts val="1000"/>
              </a:spcAft>
              <a:buChar char="•"/>
            </a:pPr>
            <a:r>
              <a:rPr lang="en" sz="1900"/>
              <a:t>Parser, detector, alerter, dashboard</a:t>
            </a:r>
            <a:endParaRPr/>
          </a:p>
        </p:txBody>
      </p:sp>
      <p:grpSp>
        <p:nvGrpSpPr>
          <p:cNvPr id="739" name="Google Shape;739;p49"/>
          <p:cNvGrpSpPr/>
          <p:nvPr/>
        </p:nvGrpSpPr>
        <p:grpSpPr>
          <a:xfrm>
            <a:off x="405288" y="1277775"/>
            <a:ext cx="399600" cy="3156450"/>
            <a:chOff x="5816800" y="2809875"/>
            <a:chExt cx="399600" cy="3156450"/>
          </a:xfrm>
        </p:grpSpPr>
        <p:sp>
          <p:nvSpPr>
            <p:cNvPr id="740" name="Google Shape;740;p49"/>
            <p:cNvSpPr/>
            <p:nvPr/>
          </p:nvSpPr>
          <p:spPr>
            <a:xfrm>
              <a:off x="5816800" y="5896425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41" name="Google Shape;741;p49"/>
            <p:cNvCxnSpPr>
              <a:stCxn id="740" idx="2"/>
              <a:endCxn id="736" idx="1"/>
            </p:cNvCxnSpPr>
            <p:nvPr/>
          </p:nvCxnSpPr>
          <p:spPr>
            <a:xfrm rot="10800000" flipH="1">
              <a:off x="5816800" y="2809875"/>
              <a:ext cx="399600" cy="3121500"/>
            </a:xfrm>
            <a:prstGeom prst="bentConnector3">
              <a:avLst>
                <a:gd name="adj1" fmla="val -59591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42" name="Google Shape;742;p49"/>
          <p:cNvSpPr txBox="1">
            <a:spLocks noGrp="1"/>
          </p:cNvSpPr>
          <p:nvPr>
            <p:ph type="title"/>
          </p:nvPr>
        </p:nvSpPr>
        <p:spPr>
          <a:xfrm>
            <a:off x="905550" y="959188"/>
            <a:ext cx="3243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" sz="2400">
                <a:solidFill>
                  <a:schemeClr val="dk1"/>
                </a:solidFill>
              </a:rPr>
              <a:t>AWS LAMBDA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43" name="Screenshot" descr="Lambda functions list: all 7 pdd- functions on Python 3.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542964"/>
            <a:ext cx="4526280" cy="2171871"/>
          </a:xfrm>
          <a:prstGeom prst="rect">
            <a:avLst/>
          </a:prstGeom>
          <a:ln w="15875">
            <a:solidFill>
              <a:srgbClr val="5EE6C9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49"/>
          <p:cNvSpPr/>
          <p:nvPr/>
        </p:nvSpPr>
        <p:spPr>
          <a:xfrm>
            <a:off x="4146222" y="652500"/>
            <a:ext cx="4519500" cy="38385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49"/>
          <p:cNvSpPr/>
          <p:nvPr/>
        </p:nvSpPr>
        <p:spPr>
          <a:xfrm>
            <a:off x="804950" y="1035325"/>
            <a:ext cx="3401400" cy="4848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49"/>
          <p:cNvSpPr txBox="1">
            <a:spLocks noGrp="1"/>
          </p:cNvSpPr>
          <p:nvPr>
            <p:ph type="body" idx="1"/>
          </p:nvPr>
        </p:nvSpPr>
        <p:spPr>
          <a:xfrm>
            <a:off x="905525" y="1691640"/>
            <a:ext cx="3200400" cy="2651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500">
                <a:solidFill>
                  <a:srgbClr val="5EE6C9"/>
                </a:solidFill>
              </a:rPr>
              <a:t>WHAT WE DID</a:t>
            </a:r>
            <a:endParaRPr/>
          </a:p>
          <a:p>
            <a:pPr marL="256032" lvl="0" indent="-201168" algn="l" rtl="0">
              <a:spcBef>
                <a:spcPts val="0"/>
              </a:spcBef>
              <a:spcAft>
                <a:spcPts val="1000"/>
              </a:spcAft>
              <a:buChar char="•"/>
            </a:pPr>
            <a:r>
              <a:rPr lang="en" sz="1900"/>
              <a:t>Scrape at 11:30 IST</a:t>
            </a:r>
            <a:endParaRPr/>
          </a:p>
          <a:p>
            <a:pPr marL="256032" lvl="0" indent="-201168" algn="l" rtl="0">
              <a:spcBef>
                <a:spcPts val="0"/>
              </a:spcBef>
              <a:spcAft>
                <a:spcPts val="1000"/>
              </a:spcAft>
              <a:buChar char="•"/>
            </a:pPr>
            <a:r>
              <a:rPr lang="en" sz="1900"/>
              <a:t>Detect at 11:45, export at 12:00</a:t>
            </a:r>
            <a:endParaRPr/>
          </a:p>
          <a:p>
            <a:pPr marL="256032" lvl="0" indent="-201168" algn="l" rtl="0">
              <a:spcBef>
                <a:spcPts val="0"/>
              </a:spcBef>
              <a:spcAft>
                <a:spcPts val="1000"/>
              </a:spcAft>
              <a:buChar char="•"/>
            </a:pPr>
            <a:r>
              <a:rPr lang="en" sz="1900"/>
              <a:t>Runs daily with nobody logged in</a:t>
            </a:r>
            <a:endParaRPr/>
          </a:p>
        </p:txBody>
      </p:sp>
      <p:grpSp>
        <p:nvGrpSpPr>
          <p:cNvPr id="739" name="Google Shape;739;p49"/>
          <p:cNvGrpSpPr/>
          <p:nvPr/>
        </p:nvGrpSpPr>
        <p:grpSpPr>
          <a:xfrm>
            <a:off x="405288" y="1277775"/>
            <a:ext cx="399600" cy="3156450"/>
            <a:chOff x="5816800" y="2809875"/>
            <a:chExt cx="399600" cy="3156450"/>
          </a:xfrm>
        </p:grpSpPr>
        <p:sp>
          <p:nvSpPr>
            <p:cNvPr id="740" name="Google Shape;740;p49"/>
            <p:cNvSpPr/>
            <p:nvPr/>
          </p:nvSpPr>
          <p:spPr>
            <a:xfrm>
              <a:off x="5816800" y="5896425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41" name="Google Shape;741;p49"/>
            <p:cNvCxnSpPr>
              <a:stCxn id="740" idx="2"/>
              <a:endCxn id="736" idx="1"/>
            </p:cNvCxnSpPr>
            <p:nvPr/>
          </p:nvCxnSpPr>
          <p:spPr>
            <a:xfrm rot="10800000" flipH="1">
              <a:off x="5816800" y="2809875"/>
              <a:ext cx="399600" cy="3121500"/>
            </a:xfrm>
            <a:prstGeom prst="bentConnector3">
              <a:avLst>
                <a:gd name="adj1" fmla="val -59591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42" name="Google Shape;742;p49"/>
          <p:cNvSpPr txBox="1">
            <a:spLocks noGrp="1"/>
          </p:cNvSpPr>
          <p:nvPr>
            <p:ph type="title"/>
          </p:nvPr>
        </p:nvSpPr>
        <p:spPr>
          <a:xfrm>
            <a:off x="905550" y="959188"/>
            <a:ext cx="3243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" sz="2400">
                <a:solidFill>
                  <a:schemeClr val="dk1"/>
                </a:solidFill>
              </a:rPr>
              <a:t>EVENTBRIDGE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43" name="Screenshot" descr="EventBridge scheduled rules: pdd-daily-scrape, pdd-daily-detect, pdd-daily-export, all enabl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686694"/>
            <a:ext cx="4526280" cy="1884410"/>
          </a:xfrm>
          <a:prstGeom prst="rect">
            <a:avLst/>
          </a:prstGeom>
          <a:ln w="15875">
            <a:solidFill>
              <a:srgbClr val="5EE6C9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49"/>
          <p:cNvSpPr/>
          <p:nvPr/>
        </p:nvSpPr>
        <p:spPr>
          <a:xfrm>
            <a:off x="4146222" y="652500"/>
            <a:ext cx="4519500" cy="38385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49"/>
          <p:cNvSpPr/>
          <p:nvPr/>
        </p:nvSpPr>
        <p:spPr>
          <a:xfrm>
            <a:off x="804950" y="1035325"/>
            <a:ext cx="3401400" cy="4848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49"/>
          <p:cNvSpPr txBox="1">
            <a:spLocks noGrp="1"/>
          </p:cNvSpPr>
          <p:nvPr>
            <p:ph type="body" idx="1"/>
          </p:nvPr>
        </p:nvSpPr>
        <p:spPr>
          <a:xfrm>
            <a:off x="905525" y="1691640"/>
            <a:ext cx="3200400" cy="2651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500">
                <a:solidFill>
                  <a:srgbClr val="5EE6C9"/>
                </a:solidFill>
              </a:rPr>
              <a:t>WHAT WE DID</a:t>
            </a:r>
            <a:endParaRPr/>
          </a:p>
          <a:p>
            <a:pPr marL="256032" lvl="0" indent="-201168" algn="l" rtl="0">
              <a:spcBef>
                <a:spcPts val="0"/>
              </a:spcBef>
              <a:spcAft>
                <a:spcPts val="1000"/>
              </a:spcAft>
              <a:buChar char="•"/>
            </a:pPr>
            <a:r>
              <a:rPr lang="en" sz="1900"/>
              <a:t>One row per plan per day</a:t>
            </a:r>
            <a:endParaRPr/>
          </a:p>
          <a:p>
            <a:pPr marL="256032" lvl="0" indent="-201168" algn="l" rtl="0">
              <a:spcBef>
                <a:spcPts val="0"/>
              </a:spcBef>
              <a:spcAft>
                <a:spcPts val="1000"/>
              </a:spcAft>
              <a:buChar char="•"/>
            </a:pPr>
            <a:r>
              <a:rPr lang="en" sz="1900"/>
              <a:t>S3 trigger loads files in seconds</a:t>
            </a:r>
            <a:endParaRPr/>
          </a:p>
          <a:p>
            <a:pPr marL="256032" lvl="0" indent="-201168" algn="l" rtl="0">
              <a:spcBef>
                <a:spcPts val="0"/>
              </a:spcBef>
              <a:spcAft>
                <a:spcPts val="1000"/>
              </a:spcAft>
              <a:buChar char="•"/>
            </a:pPr>
            <a:r>
              <a:rPr lang="en" sz="1900"/>
              <a:t>Separate table for alerts</a:t>
            </a:r>
            <a:endParaRPr/>
          </a:p>
        </p:txBody>
      </p:sp>
      <p:grpSp>
        <p:nvGrpSpPr>
          <p:cNvPr id="739" name="Google Shape;739;p49"/>
          <p:cNvGrpSpPr/>
          <p:nvPr/>
        </p:nvGrpSpPr>
        <p:grpSpPr>
          <a:xfrm>
            <a:off x="405288" y="1277775"/>
            <a:ext cx="399600" cy="3156450"/>
            <a:chOff x="5816800" y="2809875"/>
            <a:chExt cx="399600" cy="3156450"/>
          </a:xfrm>
        </p:grpSpPr>
        <p:sp>
          <p:nvSpPr>
            <p:cNvPr id="740" name="Google Shape;740;p49"/>
            <p:cNvSpPr/>
            <p:nvPr/>
          </p:nvSpPr>
          <p:spPr>
            <a:xfrm>
              <a:off x="5816800" y="5896425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41" name="Google Shape;741;p49"/>
            <p:cNvCxnSpPr>
              <a:stCxn id="740" idx="2"/>
              <a:endCxn id="736" idx="1"/>
            </p:cNvCxnSpPr>
            <p:nvPr/>
          </p:nvCxnSpPr>
          <p:spPr>
            <a:xfrm rot="10800000" flipH="1">
              <a:off x="5816800" y="2809875"/>
              <a:ext cx="399600" cy="3121500"/>
            </a:xfrm>
            <a:prstGeom prst="bentConnector3">
              <a:avLst>
                <a:gd name="adj1" fmla="val -59591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42" name="Google Shape;742;p49"/>
          <p:cNvSpPr txBox="1">
            <a:spLocks noGrp="1"/>
          </p:cNvSpPr>
          <p:nvPr>
            <p:ph type="title"/>
          </p:nvPr>
        </p:nvSpPr>
        <p:spPr>
          <a:xfrm>
            <a:off x="905550" y="959188"/>
            <a:ext cx="3243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" sz="2400">
                <a:solidFill>
                  <a:schemeClr val="dk1"/>
                </a:solidFill>
              </a:rPr>
              <a:t>DYNAMODB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43" name="Screenshot" descr="DynamoDB pdd-prices table: items for icloud#IN#iCloud+ 50 GB, one per da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434892"/>
            <a:ext cx="4526280" cy="2388014"/>
          </a:xfrm>
          <a:prstGeom prst="rect">
            <a:avLst/>
          </a:prstGeom>
          <a:ln w="15875">
            <a:solidFill>
              <a:srgbClr val="5EE6C9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49"/>
          <p:cNvSpPr/>
          <p:nvPr/>
        </p:nvSpPr>
        <p:spPr>
          <a:xfrm>
            <a:off x="4146222" y="652500"/>
            <a:ext cx="4519500" cy="38385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49"/>
          <p:cNvSpPr/>
          <p:nvPr/>
        </p:nvSpPr>
        <p:spPr>
          <a:xfrm>
            <a:off x="804950" y="1035325"/>
            <a:ext cx="3401400" cy="4848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49"/>
          <p:cNvSpPr txBox="1">
            <a:spLocks noGrp="1"/>
          </p:cNvSpPr>
          <p:nvPr>
            <p:ph type="body" idx="1"/>
          </p:nvPr>
        </p:nvSpPr>
        <p:spPr>
          <a:xfrm>
            <a:off x="905525" y="1691640"/>
            <a:ext cx="3200400" cy="2651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500">
                <a:solidFill>
                  <a:srgbClr val="5EE6C9"/>
                </a:solidFill>
              </a:rPr>
              <a:t>WHAT WE DID</a:t>
            </a:r>
            <a:endParaRPr/>
          </a:p>
          <a:p>
            <a:pPr marL="256032" lvl="0" indent="-201168" algn="l" rtl="0">
              <a:spcBef>
                <a:spcPts val="0"/>
              </a:spcBef>
              <a:spcAft>
                <a:spcPts val="1000"/>
              </a:spcAft>
              <a:buChar char="•"/>
            </a:pPr>
            <a:r>
              <a:rPr lang="en" sz="1900"/>
              <a:t>SQL on the daily exports</a:t>
            </a:r>
            <a:endParaRPr/>
          </a:p>
          <a:p>
            <a:pPr marL="256032" lvl="0" indent="-201168" algn="l" rtl="0">
              <a:spcBef>
                <a:spcPts val="0"/>
              </a:spcBef>
              <a:spcAft>
                <a:spcPts val="1000"/>
              </a:spcAft>
              <a:buChar char="•"/>
            </a:pPr>
            <a:r>
              <a:rPr lang="en" sz="1900"/>
              <a:t>Prices and alerts tables</a:t>
            </a:r>
            <a:endParaRPr/>
          </a:p>
          <a:p>
            <a:pPr marL="256032" lvl="0" indent="-201168" algn="l" rtl="0">
              <a:spcBef>
                <a:spcPts val="0"/>
              </a:spcBef>
              <a:spcAft>
                <a:spcPts val="1000"/>
              </a:spcAft>
              <a:buChar char="•"/>
            </a:pPr>
            <a:r>
              <a:rPr lang="en" sz="1900"/>
              <a:t>Joined view for analysis</a:t>
            </a:r>
            <a:endParaRPr/>
          </a:p>
        </p:txBody>
      </p:sp>
      <p:grpSp>
        <p:nvGrpSpPr>
          <p:cNvPr id="739" name="Google Shape;739;p49"/>
          <p:cNvGrpSpPr/>
          <p:nvPr/>
        </p:nvGrpSpPr>
        <p:grpSpPr>
          <a:xfrm>
            <a:off x="405288" y="1277775"/>
            <a:ext cx="399600" cy="3156450"/>
            <a:chOff x="5816800" y="2809875"/>
            <a:chExt cx="399600" cy="3156450"/>
          </a:xfrm>
        </p:grpSpPr>
        <p:sp>
          <p:nvSpPr>
            <p:cNvPr id="740" name="Google Shape;740;p49"/>
            <p:cNvSpPr/>
            <p:nvPr/>
          </p:nvSpPr>
          <p:spPr>
            <a:xfrm>
              <a:off x="5816800" y="5896425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41" name="Google Shape;741;p49"/>
            <p:cNvCxnSpPr>
              <a:stCxn id="740" idx="2"/>
              <a:endCxn id="736" idx="1"/>
            </p:cNvCxnSpPr>
            <p:nvPr/>
          </p:nvCxnSpPr>
          <p:spPr>
            <a:xfrm rot="10800000" flipH="1">
              <a:off x="5816800" y="2809875"/>
              <a:ext cx="399600" cy="3121500"/>
            </a:xfrm>
            <a:prstGeom prst="bentConnector3">
              <a:avLst>
                <a:gd name="adj1" fmla="val -59591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42" name="Google Shape;742;p49"/>
          <p:cNvSpPr txBox="1">
            <a:spLocks noGrp="1"/>
          </p:cNvSpPr>
          <p:nvPr>
            <p:ph type="title"/>
          </p:nvPr>
        </p:nvSpPr>
        <p:spPr>
          <a:xfrm>
            <a:off x="905550" y="959188"/>
            <a:ext cx="3243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" sz="2400">
                <a:solidFill>
                  <a:schemeClr val="dk1"/>
                </a:solidFill>
              </a:rPr>
              <a:t>AMAZON ATHENA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43" name="Screenshot 1" descr="Athena query: alerts by type from pdd_db.aler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914866"/>
            <a:ext cx="4526280" cy="1416386"/>
          </a:xfrm>
          <a:prstGeom prst="rect">
            <a:avLst/>
          </a:prstGeom>
          <a:ln w="15875">
            <a:solidFill>
              <a:srgbClr val="5EE6C9"/>
            </a:solidFill>
          </a:ln>
        </p:spPr>
      </p:pic>
      <p:pic>
        <p:nvPicPr>
          <p:cNvPr id="744" name="Screenshot 2" descr="Athena view prices_with_alerts: Apple Music US prices with out_of_band alerts in August 20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0286" y="2697479"/>
            <a:ext cx="3743946" cy="1874519"/>
          </a:xfrm>
          <a:prstGeom prst="rect">
            <a:avLst/>
          </a:prstGeom>
          <a:ln w="15875">
            <a:solidFill>
              <a:srgbClr val="5EE6C9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49"/>
          <p:cNvSpPr/>
          <p:nvPr/>
        </p:nvSpPr>
        <p:spPr>
          <a:xfrm>
            <a:off x="4146222" y="652500"/>
            <a:ext cx="4519500" cy="38385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49"/>
          <p:cNvSpPr/>
          <p:nvPr/>
        </p:nvSpPr>
        <p:spPr>
          <a:xfrm>
            <a:off x="804950" y="1035325"/>
            <a:ext cx="3401400" cy="4848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49"/>
          <p:cNvSpPr txBox="1">
            <a:spLocks noGrp="1"/>
          </p:cNvSpPr>
          <p:nvPr>
            <p:ph type="body" idx="1"/>
          </p:nvPr>
        </p:nvSpPr>
        <p:spPr>
          <a:xfrm>
            <a:off x="905525" y="1691640"/>
            <a:ext cx="3200400" cy="2651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500">
                <a:solidFill>
                  <a:srgbClr val="5EE6C9"/>
                </a:solidFill>
              </a:rPr>
              <a:t>WHAT WE DID</a:t>
            </a:r>
            <a:endParaRPr/>
          </a:p>
          <a:p>
            <a:pPr marL="256032" lvl="0" indent="-201168" algn="l" rtl="0">
              <a:spcBef>
                <a:spcPts val="0"/>
              </a:spcBef>
              <a:spcAft>
                <a:spcPts val="1000"/>
              </a:spcAft>
              <a:buChar char="•"/>
            </a:pPr>
            <a:r>
              <a:rPr lang="en" sz="1900"/>
              <a:t>Emails the team on new hikes</a:t>
            </a:r>
            <a:endParaRPr/>
          </a:p>
          <a:p>
            <a:pPr marL="256032" lvl="0" indent="-201168" algn="l" rtl="0">
              <a:spcBef>
                <a:spcPts val="0"/>
              </a:spcBef>
              <a:spcAft>
                <a:spcPts val="1000"/>
              </a:spcAft>
              <a:buChar char="•"/>
            </a:pPr>
            <a:r>
              <a:rPr lang="en" sz="1900"/>
              <a:t>Old alerts never re-sent</a:t>
            </a:r>
            <a:endParaRPr/>
          </a:p>
          <a:p>
            <a:pPr marL="256032" lvl="0" indent="-201168" algn="l" rtl="0">
              <a:spcBef>
                <a:spcPts val="0"/>
              </a:spcBef>
              <a:spcAft>
                <a:spcPts val="1000"/>
              </a:spcAft>
              <a:buChar char="•"/>
            </a:pPr>
            <a:r>
              <a:rPr lang="en" sz="1900"/>
              <a:t>Tested with a fake price hike</a:t>
            </a:r>
            <a:endParaRPr/>
          </a:p>
        </p:txBody>
      </p:sp>
      <p:grpSp>
        <p:nvGrpSpPr>
          <p:cNvPr id="739" name="Google Shape;739;p49"/>
          <p:cNvGrpSpPr/>
          <p:nvPr/>
        </p:nvGrpSpPr>
        <p:grpSpPr>
          <a:xfrm>
            <a:off x="405288" y="1277775"/>
            <a:ext cx="399600" cy="3156450"/>
            <a:chOff x="5816800" y="2809875"/>
            <a:chExt cx="399600" cy="3156450"/>
          </a:xfrm>
        </p:grpSpPr>
        <p:sp>
          <p:nvSpPr>
            <p:cNvPr id="740" name="Google Shape;740;p49"/>
            <p:cNvSpPr/>
            <p:nvPr/>
          </p:nvSpPr>
          <p:spPr>
            <a:xfrm>
              <a:off x="5816800" y="5896425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41" name="Google Shape;741;p49"/>
            <p:cNvCxnSpPr>
              <a:stCxn id="740" idx="2"/>
              <a:endCxn id="736" idx="1"/>
            </p:cNvCxnSpPr>
            <p:nvPr/>
          </p:nvCxnSpPr>
          <p:spPr>
            <a:xfrm rot="10800000" flipH="1">
              <a:off x="5816800" y="2809875"/>
              <a:ext cx="399600" cy="3121500"/>
            </a:xfrm>
            <a:prstGeom prst="bentConnector3">
              <a:avLst>
                <a:gd name="adj1" fmla="val -59591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42" name="Google Shape;742;p49"/>
          <p:cNvSpPr txBox="1">
            <a:spLocks noGrp="1"/>
          </p:cNvSpPr>
          <p:nvPr>
            <p:ph type="title"/>
          </p:nvPr>
        </p:nvSpPr>
        <p:spPr>
          <a:xfrm>
            <a:off x="905550" y="959188"/>
            <a:ext cx="3243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" sz="2400">
                <a:solidFill>
                  <a:schemeClr val="dk1"/>
                </a:solidFill>
              </a:rPr>
              <a:t>AMAZON SNS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43" name="Screenshot 1" descr="pdd-detector daily run: 2 new alerts found and pdd-alerter invok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703534"/>
            <a:ext cx="4526280" cy="1839051"/>
          </a:xfrm>
          <a:prstGeom prst="rect">
            <a:avLst/>
          </a:prstGeom>
          <a:ln w="15875">
            <a:solidFill>
              <a:srgbClr val="5EE6C9"/>
            </a:solidFill>
          </a:ln>
        </p:spPr>
      </p:pic>
      <p:pic>
        <p:nvPicPr>
          <p:cNvPr id="744" name="Screenshot 2" descr="Alert email: Price Drift Detector: 2 new alert(s), unusual price and stealth hike for iCloud+ 50 G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775356"/>
            <a:ext cx="4526280" cy="1718767"/>
          </a:xfrm>
          <a:prstGeom prst="rect">
            <a:avLst/>
          </a:prstGeom>
          <a:ln w="15875">
            <a:solidFill>
              <a:srgbClr val="5EE6C9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49"/>
          <p:cNvSpPr/>
          <p:nvPr/>
        </p:nvSpPr>
        <p:spPr>
          <a:xfrm>
            <a:off x="4146222" y="652500"/>
            <a:ext cx="4519500" cy="38385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49"/>
          <p:cNvSpPr/>
          <p:nvPr/>
        </p:nvSpPr>
        <p:spPr>
          <a:xfrm>
            <a:off x="804950" y="1035325"/>
            <a:ext cx="3401400" cy="4848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49"/>
          <p:cNvSpPr txBox="1">
            <a:spLocks noGrp="1"/>
          </p:cNvSpPr>
          <p:nvPr>
            <p:ph type="body" idx="1"/>
          </p:nvPr>
        </p:nvSpPr>
        <p:spPr>
          <a:xfrm>
            <a:off x="905525" y="1691640"/>
            <a:ext cx="3200400" cy="2651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500">
                <a:solidFill>
                  <a:srgbClr val="5EE6C9"/>
                </a:solidFill>
              </a:rPr>
              <a:t>WHAT WE DID</a:t>
            </a:r>
            <a:endParaRPr/>
          </a:p>
          <a:p>
            <a:pPr marL="256032" lvl="0" indent="-201168" algn="l" rtl="0">
              <a:spcBef>
                <a:spcPts val="0"/>
              </a:spcBef>
              <a:spcAft>
                <a:spcPts val="1000"/>
              </a:spcAft>
              <a:buChar char="•"/>
            </a:pPr>
            <a:r>
              <a:rPr lang="en" sz="1900"/>
              <a:t>Logs every Lambda run</a:t>
            </a:r>
            <a:endParaRPr/>
          </a:p>
          <a:p>
            <a:pPr marL="256032" lvl="0" indent="-201168" algn="l" rtl="0">
              <a:spcBef>
                <a:spcPts val="0"/>
              </a:spcBef>
              <a:spcAft>
                <a:spcPts val="1000"/>
              </a:spcAft>
              <a:buChar char="•"/>
            </a:pPr>
            <a:r>
              <a:rPr lang="en" sz="1900"/>
              <a:t>Used to debug errors</a:t>
            </a:r>
            <a:endParaRPr/>
          </a:p>
          <a:p>
            <a:pPr marL="256032" lvl="0" indent="-201168" algn="l" rtl="0">
              <a:spcBef>
                <a:spcPts val="0"/>
              </a:spcBef>
              <a:spcAft>
                <a:spcPts val="1000"/>
              </a:spcAft>
              <a:buChar char="•"/>
            </a:pPr>
            <a:r>
              <a:rPr lang="en" sz="1900"/>
              <a:t>Proves the daily runs worked</a:t>
            </a:r>
            <a:endParaRPr/>
          </a:p>
        </p:txBody>
      </p:sp>
      <p:sp>
        <p:nvSpPr>
          <p:cNvPr id="742" name="Google Shape;742;p4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" sz="2400">
                <a:solidFill>
                  <a:schemeClr val="dk1"/>
                </a:solidFill>
              </a:rPr>
              <a:t>CLOUDWATCH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739" name="Google Shape;739;p49"/>
          <p:cNvGrpSpPr/>
          <p:nvPr/>
        </p:nvGrpSpPr>
        <p:grpSpPr>
          <a:xfrm>
            <a:off x="405288" y="1277775"/>
            <a:ext cx="399600" cy="3156450"/>
            <a:chOff x="5816800" y="2809875"/>
            <a:chExt cx="399600" cy="3156450"/>
          </a:xfrm>
        </p:grpSpPr>
        <p:sp>
          <p:nvSpPr>
            <p:cNvPr id="740" name="Google Shape;740;p49"/>
            <p:cNvSpPr/>
            <p:nvPr/>
          </p:nvSpPr>
          <p:spPr>
            <a:xfrm>
              <a:off x="5816800" y="5896425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41" name="Google Shape;741;p49"/>
            <p:cNvCxnSpPr>
              <a:stCxn id="740" idx="2"/>
              <a:endCxn id="736" idx="1"/>
            </p:cNvCxnSpPr>
            <p:nvPr/>
          </p:nvCxnSpPr>
          <p:spPr>
            <a:xfrm rot="10800000" flipH="1">
              <a:off x="5816800" y="2809875"/>
              <a:ext cx="399600" cy="3121500"/>
            </a:xfrm>
            <a:prstGeom prst="bentConnector3">
              <a:avLst>
                <a:gd name="adj1" fmla="val -59591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743" name="Screenshot" descr="CloudWatch log group /aws/lambda/pdd-parser with log streams from each ru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758397"/>
            <a:ext cx="4526280" cy="1741004"/>
          </a:xfrm>
          <a:prstGeom prst="rect">
            <a:avLst/>
          </a:prstGeom>
          <a:ln w="15875">
            <a:solidFill>
              <a:srgbClr val="5EE6C9"/>
            </a:solidFill>
          </a:ln>
        </p:spPr>
      </p:pic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49"/>
          <p:cNvSpPr/>
          <p:nvPr/>
        </p:nvSpPr>
        <p:spPr>
          <a:xfrm>
            <a:off x="4146222" y="652500"/>
            <a:ext cx="4519500" cy="38385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49"/>
          <p:cNvSpPr/>
          <p:nvPr/>
        </p:nvSpPr>
        <p:spPr>
          <a:xfrm>
            <a:off x="804950" y="1035325"/>
            <a:ext cx="3401400" cy="4848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49"/>
          <p:cNvSpPr txBox="1">
            <a:spLocks noGrp="1"/>
          </p:cNvSpPr>
          <p:nvPr>
            <p:ph type="body" idx="1"/>
          </p:nvPr>
        </p:nvSpPr>
        <p:spPr>
          <a:xfrm>
            <a:off x="905525" y="1691640"/>
            <a:ext cx="3429000" cy="2651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500">
                <a:solidFill>
                  <a:srgbClr val="5EE6C9"/>
                </a:solidFill>
              </a:rPr>
              <a:t>WHAT WE DID</a:t>
            </a:r>
            <a:endParaRPr/>
          </a:p>
          <a:p>
            <a:pPr marL="256032" lvl="0" indent="-201168" algn="l" rtl="0">
              <a:spcBef>
                <a:spcPts val="0"/>
              </a:spcBef>
              <a:spcAft>
                <a:spcPts val="1000"/>
              </a:spcAft>
              <a:buChar char="•"/>
            </a:pPr>
            <a:r>
              <a:rPr lang="en" sz="1900"/>
              <a:t>One shared role for all Lambdas</a:t>
            </a:r>
            <a:endParaRPr/>
          </a:p>
          <a:p>
            <a:pPr marL="256032" lvl="0" indent="-201168" algn="l" rtl="0">
              <a:spcBef>
                <a:spcPts val="0"/>
              </a:spcBef>
              <a:spcAft>
                <a:spcPts val="1000"/>
              </a:spcAft>
              <a:buChar char="•"/>
            </a:pPr>
            <a:r>
              <a:rPr lang="en" sz="1900"/>
              <a:t>Team limited to pdd- resources</a:t>
            </a:r>
            <a:endParaRPr/>
          </a:p>
          <a:p>
            <a:pPr marL="256032" lvl="0" indent="-201168" algn="l" rtl="0">
              <a:spcBef>
                <a:spcPts val="0"/>
              </a:spcBef>
              <a:spcAft>
                <a:spcPts val="1000"/>
              </a:spcAft>
              <a:buChar char="•"/>
            </a:pPr>
            <a:r>
              <a:rPr lang="en" sz="1900"/>
              <a:t>Owner keeps billing control</a:t>
            </a:r>
            <a:endParaRPr/>
          </a:p>
        </p:txBody>
      </p:sp>
      <p:sp>
        <p:nvSpPr>
          <p:cNvPr id="742" name="Google Shape;742;p4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" sz="2400">
                <a:solidFill>
                  <a:schemeClr val="dk1"/>
                </a:solidFill>
              </a:rPr>
              <a:t>AWS IAM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739" name="Google Shape;739;p49"/>
          <p:cNvGrpSpPr/>
          <p:nvPr/>
        </p:nvGrpSpPr>
        <p:grpSpPr>
          <a:xfrm>
            <a:off x="405288" y="1277775"/>
            <a:ext cx="399600" cy="3156450"/>
            <a:chOff x="5816800" y="2809875"/>
            <a:chExt cx="399600" cy="3156450"/>
          </a:xfrm>
        </p:grpSpPr>
        <p:sp>
          <p:nvSpPr>
            <p:cNvPr id="740" name="Google Shape;740;p49"/>
            <p:cNvSpPr/>
            <p:nvPr/>
          </p:nvSpPr>
          <p:spPr>
            <a:xfrm>
              <a:off x="5816800" y="5896425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41" name="Google Shape;741;p49"/>
            <p:cNvCxnSpPr>
              <a:stCxn id="740" idx="2"/>
              <a:endCxn id="736" idx="1"/>
            </p:cNvCxnSpPr>
            <p:nvPr/>
          </p:nvCxnSpPr>
          <p:spPr>
            <a:xfrm rot="10800000" flipH="1">
              <a:off x="5816800" y="2809875"/>
              <a:ext cx="399600" cy="3121500"/>
            </a:xfrm>
            <a:prstGeom prst="bentConnector3">
              <a:avLst>
                <a:gd name="adj1" fmla="val -59591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4" name="Picture 3" descr="IAM users&#10;">
            <a:extLst>
              <a:ext uri="{FF2B5EF4-FFF2-40B4-BE49-F238E27FC236}">
                <a16:creationId xmlns:a16="http://schemas.microsoft.com/office/drawing/2014/main" id="{92F9559A-A655-B00A-0A4F-9A9E63DE7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005" y="435660"/>
            <a:ext cx="2177192" cy="2168930"/>
          </a:xfrm>
          <a:prstGeom prst="rect">
            <a:avLst/>
          </a:prstGeom>
          <a:ln w="15875">
            <a:solidFill>
              <a:srgbClr val="5EE6C9"/>
            </a:solidFill>
          </a:ln>
        </p:spPr>
      </p:pic>
      <p:pic>
        <p:nvPicPr>
          <p:cNvPr id="5" name="Picture 4" descr="IAM user policies&#10;">
            <a:extLst>
              <a:ext uri="{FF2B5EF4-FFF2-40B4-BE49-F238E27FC236}">
                <a16:creationId xmlns:a16="http://schemas.microsoft.com/office/drawing/2014/main" id="{4083B8A5-7C6F-C828-DF52-DFF178BE5A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5161" y="2678588"/>
            <a:ext cx="4412639" cy="2040344"/>
          </a:xfrm>
          <a:prstGeom prst="rect">
            <a:avLst/>
          </a:prstGeom>
          <a:ln w="15875">
            <a:solidFill>
              <a:srgbClr val="5EE6C9"/>
            </a:solidFill>
          </a:ln>
        </p:spPr>
      </p:pic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1"/>
          <p:cNvSpPr/>
          <p:nvPr/>
        </p:nvSpPr>
        <p:spPr>
          <a:xfrm>
            <a:off x="6174225" y="1272103"/>
            <a:ext cx="1889100" cy="17583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41"/>
          <p:cNvSpPr/>
          <p:nvPr/>
        </p:nvSpPr>
        <p:spPr>
          <a:xfrm>
            <a:off x="3627525" y="1272103"/>
            <a:ext cx="1889100" cy="17583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41"/>
          <p:cNvSpPr/>
          <p:nvPr/>
        </p:nvSpPr>
        <p:spPr>
          <a:xfrm>
            <a:off x="1080813" y="1272092"/>
            <a:ext cx="1889100" cy="17583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41"/>
          <p:cNvSpPr txBox="1">
            <a:spLocks noGrp="1"/>
          </p:cNvSpPr>
          <p:nvPr>
            <p:ph type="title" idx="2"/>
          </p:nvPr>
        </p:nvSpPr>
        <p:spPr>
          <a:xfrm>
            <a:off x="897995" y="2752825"/>
            <a:ext cx="2258568" cy="71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1700"/>
              <a:t>Stealth hike</a:t>
            </a:r>
            <a:endParaRPr/>
          </a:p>
        </p:txBody>
      </p:sp>
      <p:sp>
        <p:nvSpPr>
          <p:cNvPr id="408" name="Google Shape;408;p41"/>
          <p:cNvSpPr txBox="1">
            <a:spLocks noGrp="1"/>
          </p:cNvSpPr>
          <p:nvPr>
            <p:ph type="title" idx="3"/>
          </p:nvPr>
        </p:nvSpPr>
        <p:spPr>
          <a:xfrm>
            <a:off x="3444682" y="2752825"/>
            <a:ext cx="2258568" cy="71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1700"/>
              <a:t>Shrinkflation</a:t>
            </a:r>
            <a:endParaRPr/>
          </a:p>
        </p:txBody>
      </p:sp>
      <p:sp>
        <p:nvSpPr>
          <p:cNvPr id="409" name="Google Shape;409;p41"/>
          <p:cNvSpPr txBox="1">
            <a:spLocks noGrp="1"/>
          </p:cNvSpPr>
          <p:nvPr>
            <p:ph type="title" idx="5"/>
          </p:nvPr>
        </p:nvSpPr>
        <p:spPr>
          <a:xfrm>
            <a:off x="5991495" y="2752825"/>
            <a:ext cx="2258568" cy="71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1700"/>
              <a:t>Unusual price</a:t>
            </a:r>
            <a:endParaRPr/>
          </a:p>
        </p:txBody>
      </p:sp>
      <p:sp>
        <p:nvSpPr>
          <p:cNvPr id="410" name="Google Shape;410;p41"/>
          <p:cNvSpPr/>
          <p:nvPr/>
        </p:nvSpPr>
        <p:spPr>
          <a:xfrm>
            <a:off x="576350" y="617847"/>
            <a:ext cx="7991400" cy="4848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41"/>
          <p:cNvSpPr txBox="1">
            <a:spLocks noGrp="1"/>
          </p:cNvSpPr>
          <p:nvPr>
            <p:ph type="subTitle" idx="1"/>
          </p:nvPr>
        </p:nvSpPr>
        <p:spPr>
          <a:xfrm>
            <a:off x="827972" y="3429000"/>
            <a:ext cx="2395728" cy="11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400"/>
              </a:spcAft>
            </a:pPr>
            <a:r>
              <a:rPr lang="en" sz="1500">
                <a:solidFill>
                  <a:srgbClr val="FFFFFF"/>
                </a:solidFill>
              </a:rPr>
              <a:t>Price up, plan unchanged.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400"/>
              </a:spcAft>
            </a:pPr>
            <a:r>
              <a:rPr lang="en" sz="1200">
                <a:solidFill>
                  <a:srgbClr val="5EE6C9"/>
                </a:solidFill>
              </a:rPr>
              <a:t>Test: iCloud+ 50 GB ₹75 → ₹99, still 50 GB</a:t>
            </a:r>
            <a:endParaRPr/>
          </a:p>
        </p:txBody>
      </p:sp>
      <p:sp>
        <p:nvSpPr>
          <p:cNvPr id="412" name="Google Shape;412;p41"/>
          <p:cNvSpPr txBox="1">
            <a:spLocks noGrp="1"/>
          </p:cNvSpPr>
          <p:nvPr>
            <p:ph type="subTitle" idx="4"/>
          </p:nvPr>
        </p:nvSpPr>
        <p:spPr>
          <a:xfrm>
            <a:off x="3374693" y="3429000"/>
            <a:ext cx="2395728" cy="11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400"/>
              </a:spcAft>
            </a:pPr>
            <a:r>
              <a:rPr lang="en" sz="1500">
                <a:solidFill>
                  <a:srgbClr val="FFFFFF"/>
                </a:solidFill>
              </a:rPr>
              <a:t>Same price, less product.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400"/>
              </a:spcAft>
            </a:pPr>
            <a:r>
              <a:rPr lang="en" sz="1200">
                <a:solidFill>
                  <a:srgbClr val="5EE6C9"/>
                </a:solidFill>
              </a:rPr>
              <a:t>Dropbox US Standard: $15, less storage (Jul 2026)</a:t>
            </a:r>
            <a:endParaRPr/>
          </a:p>
        </p:txBody>
      </p:sp>
      <p:sp>
        <p:nvSpPr>
          <p:cNvPr id="413" name="Google Shape;413;p41"/>
          <p:cNvSpPr txBox="1">
            <a:spLocks noGrp="1"/>
          </p:cNvSpPr>
          <p:nvPr>
            <p:ph type="subTitle" idx="6"/>
          </p:nvPr>
        </p:nvSpPr>
        <p:spPr>
          <a:xfrm>
            <a:off x="5921421" y="3429000"/>
            <a:ext cx="2395728" cy="11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400"/>
              </a:spcAft>
            </a:pPr>
            <a:r>
              <a:rPr lang="en" sz="1500">
                <a:solidFill>
                  <a:srgbClr val="FFFFFF"/>
                </a:solidFill>
              </a:rPr>
              <a:t>A jump outside the plan's normal range.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400"/>
              </a:spcAft>
            </a:pPr>
            <a:r>
              <a:rPr lang="en" sz="1200">
                <a:solidFill>
                  <a:srgbClr val="5EE6C9"/>
                </a:solidFill>
              </a:rPr>
              <a:t>Apple Music US $10.99 → $11.99 (Aug 2026)</a:t>
            </a:r>
            <a:endParaRPr/>
          </a:p>
        </p:txBody>
      </p:sp>
      <p:sp>
        <p:nvSpPr>
          <p:cNvPr id="414" name="Google Shape;414;p41"/>
          <p:cNvSpPr/>
          <p:nvPr/>
        </p:nvSpPr>
        <p:spPr>
          <a:xfrm>
            <a:off x="1688750" y="1966925"/>
            <a:ext cx="673200" cy="6732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41"/>
          <p:cNvSpPr/>
          <p:nvPr/>
        </p:nvSpPr>
        <p:spPr>
          <a:xfrm>
            <a:off x="4235475" y="1966925"/>
            <a:ext cx="673200" cy="6732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41"/>
          <p:cNvSpPr/>
          <p:nvPr/>
        </p:nvSpPr>
        <p:spPr>
          <a:xfrm>
            <a:off x="6782200" y="1966925"/>
            <a:ext cx="673200" cy="6732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7" name="Google Shape;417;p41"/>
          <p:cNvGrpSpPr/>
          <p:nvPr/>
        </p:nvGrpSpPr>
        <p:grpSpPr>
          <a:xfrm>
            <a:off x="1806267" y="2085023"/>
            <a:ext cx="438165" cy="437005"/>
            <a:chOff x="1716366" y="1950806"/>
            <a:chExt cx="447153" cy="445969"/>
          </a:xfrm>
        </p:grpSpPr>
        <p:sp>
          <p:nvSpPr>
            <p:cNvPr id="418" name="Google Shape;418;p41"/>
            <p:cNvSpPr/>
            <p:nvPr/>
          </p:nvSpPr>
          <p:spPr>
            <a:xfrm>
              <a:off x="1716366" y="1950806"/>
              <a:ext cx="447153" cy="301751"/>
            </a:xfrm>
            <a:custGeom>
              <a:avLst/>
              <a:gdLst/>
              <a:ahLst/>
              <a:cxnLst/>
              <a:rect l="l" t="t" r="r" b="b"/>
              <a:pathLst>
                <a:path w="12945" h="8735" extrusionOk="0">
                  <a:moveTo>
                    <a:pt x="7218" y="0"/>
                  </a:moveTo>
                  <a:cubicBezTo>
                    <a:pt x="6566" y="0"/>
                    <a:pt x="5951" y="250"/>
                    <a:pt x="5496" y="705"/>
                  </a:cubicBezTo>
                  <a:cubicBezTo>
                    <a:pt x="5032" y="1169"/>
                    <a:pt x="4782" y="1776"/>
                    <a:pt x="4782" y="2427"/>
                  </a:cubicBezTo>
                  <a:lnTo>
                    <a:pt x="4782" y="2436"/>
                  </a:lnTo>
                  <a:cubicBezTo>
                    <a:pt x="4622" y="2409"/>
                    <a:pt x="4461" y="2391"/>
                    <a:pt x="4292" y="2391"/>
                  </a:cubicBezTo>
                  <a:cubicBezTo>
                    <a:pt x="2882" y="2391"/>
                    <a:pt x="1740" y="3542"/>
                    <a:pt x="1740" y="4952"/>
                  </a:cubicBezTo>
                  <a:cubicBezTo>
                    <a:pt x="1740" y="5032"/>
                    <a:pt x="1740" y="5103"/>
                    <a:pt x="1749" y="5175"/>
                  </a:cubicBezTo>
                  <a:cubicBezTo>
                    <a:pt x="786" y="5192"/>
                    <a:pt x="1" y="5977"/>
                    <a:pt x="1" y="6950"/>
                  </a:cubicBezTo>
                  <a:cubicBezTo>
                    <a:pt x="1" y="7931"/>
                    <a:pt x="803" y="8734"/>
                    <a:pt x="1776" y="8734"/>
                  </a:cubicBezTo>
                  <a:lnTo>
                    <a:pt x="5157" y="8734"/>
                  </a:lnTo>
                  <a:cubicBezTo>
                    <a:pt x="5469" y="6673"/>
                    <a:pt x="7244" y="5094"/>
                    <a:pt x="9377" y="5094"/>
                  </a:cubicBezTo>
                  <a:cubicBezTo>
                    <a:pt x="10750" y="5094"/>
                    <a:pt x="11973" y="5746"/>
                    <a:pt x="12749" y="6754"/>
                  </a:cubicBezTo>
                  <a:cubicBezTo>
                    <a:pt x="12883" y="6406"/>
                    <a:pt x="12945" y="6040"/>
                    <a:pt x="12945" y="5665"/>
                  </a:cubicBezTo>
                  <a:cubicBezTo>
                    <a:pt x="12945" y="3970"/>
                    <a:pt x="11571" y="2596"/>
                    <a:pt x="9885" y="2596"/>
                  </a:cubicBezTo>
                  <a:lnTo>
                    <a:pt x="9653" y="2596"/>
                  </a:lnTo>
                  <a:lnTo>
                    <a:pt x="9653" y="2427"/>
                  </a:lnTo>
                  <a:cubicBezTo>
                    <a:pt x="9653" y="1089"/>
                    <a:pt x="8565" y="0"/>
                    <a:pt x="72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41"/>
            <p:cNvSpPr/>
            <p:nvPr/>
          </p:nvSpPr>
          <p:spPr>
            <a:xfrm>
              <a:off x="1920692" y="2153889"/>
              <a:ext cx="242557" cy="242886"/>
            </a:xfrm>
            <a:custGeom>
              <a:avLst/>
              <a:gdLst/>
              <a:ahLst/>
              <a:cxnLst/>
              <a:rect l="l" t="t" r="r" b="b"/>
              <a:pathLst>
                <a:path w="7022" h="7031" extrusionOk="0">
                  <a:moveTo>
                    <a:pt x="3890" y="1901"/>
                  </a:moveTo>
                  <a:lnTo>
                    <a:pt x="3890" y="3132"/>
                  </a:lnTo>
                  <a:lnTo>
                    <a:pt x="4746" y="3132"/>
                  </a:lnTo>
                  <a:lnTo>
                    <a:pt x="4746" y="3890"/>
                  </a:lnTo>
                  <a:lnTo>
                    <a:pt x="3131" y="3890"/>
                  </a:lnTo>
                  <a:lnTo>
                    <a:pt x="3131" y="1901"/>
                  </a:lnTo>
                  <a:close/>
                  <a:moveTo>
                    <a:pt x="3131" y="0"/>
                  </a:moveTo>
                  <a:cubicBezTo>
                    <a:pt x="1490" y="170"/>
                    <a:pt x="179" y="1490"/>
                    <a:pt x="0" y="3132"/>
                  </a:cubicBezTo>
                  <a:lnTo>
                    <a:pt x="937" y="3132"/>
                  </a:lnTo>
                  <a:lnTo>
                    <a:pt x="937" y="3890"/>
                  </a:lnTo>
                  <a:lnTo>
                    <a:pt x="0" y="3890"/>
                  </a:lnTo>
                  <a:cubicBezTo>
                    <a:pt x="179" y="5540"/>
                    <a:pt x="1490" y="6852"/>
                    <a:pt x="3131" y="7030"/>
                  </a:cubicBezTo>
                  <a:lnTo>
                    <a:pt x="3131" y="6084"/>
                  </a:lnTo>
                  <a:lnTo>
                    <a:pt x="3890" y="6084"/>
                  </a:lnTo>
                  <a:lnTo>
                    <a:pt x="3890" y="7030"/>
                  </a:lnTo>
                  <a:cubicBezTo>
                    <a:pt x="5540" y="6852"/>
                    <a:pt x="6852" y="5540"/>
                    <a:pt x="7021" y="3890"/>
                  </a:cubicBezTo>
                  <a:lnTo>
                    <a:pt x="6084" y="3890"/>
                  </a:lnTo>
                  <a:lnTo>
                    <a:pt x="6084" y="3132"/>
                  </a:lnTo>
                  <a:lnTo>
                    <a:pt x="7021" y="3132"/>
                  </a:lnTo>
                  <a:cubicBezTo>
                    <a:pt x="6852" y="1490"/>
                    <a:pt x="5540" y="170"/>
                    <a:pt x="3890" y="0"/>
                  </a:cubicBezTo>
                  <a:lnTo>
                    <a:pt x="3890" y="937"/>
                  </a:lnTo>
                  <a:lnTo>
                    <a:pt x="3131" y="937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0" name="Google Shape;420;p41"/>
          <p:cNvGrpSpPr/>
          <p:nvPr/>
        </p:nvGrpSpPr>
        <p:grpSpPr>
          <a:xfrm>
            <a:off x="4353425" y="2102990"/>
            <a:ext cx="437286" cy="401058"/>
            <a:chOff x="3471043" y="1968976"/>
            <a:chExt cx="446256" cy="409284"/>
          </a:xfrm>
        </p:grpSpPr>
        <p:sp>
          <p:nvSpPr>
            <p:cNvPr id="421" name="Google Shape;421;p41"/>
            <p:cNvSpPr/>
            <p:nvPr/>
          </p:nvSpPr>
          <p:spPr>
            <a:xfrm>
              <a:off x="3521892" y="1968976"/>
              <a:ext cx="395408" cy="260435"/>
            </a:xfrm>
            <a:custGeom>
              <a:avLst/>
              <a:gdLst/>
              <a:ahLst/>
              <a:cxnLst/>
              <a:rect l="l" t="t" r="r" b="b"/>
              <a:pathLst>
                <a:path w="11447" h="7539" extrusionOk="0">
                  <a:moveTo>
                    <a:pt x="5047" y="0"/>
                  </a:moveTo>
                  <a:cubicBezTo>
                    <a:pt x="5030" y="0"/>
                    <a:pt x="5014" y="0"/>
                    <a:pt x="4997" y="1"/>
                  </a:cubicBezTo>
                  <a:cubicBezTo>
                    <a:pt x="3810" y="36"/>
                    <a:pt x="2874" y="1036"/>
                    <a:pt x="2874" y="2222"/>
                  </a:cubicBezTo>
                  <a:lnTo>
                    <a:pt x="2874" y="2302"/>
                  </a:lnTo>
                  <a:lnTo>
                    <a:pt x="2722" y="2302"/>
                  </a:lnTo>
                  <a:cubicBezTo>
                    <a:pt x="1223" y="2302"/>
                    <a:pt x="1" y="3525"/>
                    <a:pt x="1" y="5032"/>
                  </a:cubicBezTo>
                  <a:cubicBezTo>
                    <a:pt x="1" y="5460"/>
                    <a:pt x="99" y="5880"/>
                    <a:pt x="286" y="6254"/>
                  </a:cubicBezTo>
                  <a:cubicBezTo>
                    <a:pt x="768" y="5808"/>
                    <a:pt x="1393" y="5523"/>
                    <a:pt x="2080" y="5469"/>
                  </a:cubicBezTo>
                  <a:cubicBezTo>
                    <a:pt x="2222" y="4988"/>
                    <a:pt x="2481" y="4542"/>
                    <a:pt x="2847" y="4185"/>
                  </a:cubicBezTo>
                  <a:cubicBezTo>
                    <a:pt x="3400" y="3641"/>
                    <a:pt x="4122" y="3346"/>
                    <a:pt x="4890" y="3346"/>
                  </a:cubicBezTo>
                  <a:cubicBezTo>
                    <a:pt x="6308" y="3346"/>
                    <a:pt x="7495" y="4354"/>
                    <a:pt x="7762" y="5692"/>
                  </a:cubicBezTo>
                  <a:cubicBezTo>
                    <a:pt x="8868" y="5862"/>
                    <a:pt x="9814" y="6567"/>
                    <a:pt x="10314" y="7539"/>
                  </a:cubicBezTo>
                  <a:cubicBezTo>
                    <a:pt x="10983" y="7191"/>
                    <a:pt x="11447" y="6495"/>
                    <a:pt x="11447" y="5692"/>
                  </a:cubicBezTo>
                  <a:cubicBezTo>
                    <a:pt x="11447" y="4622"/>
                    <a:pt x="10617" y="3730"/>
                    <a:pt x="9573" y="3632"/>
                  </a:cubicBezTo>
                  <a:cubicBezTo>
                    <a:pt x="9466" y="2722"/>
                    <a:pt x="8681" y="2008"/>
                    <a:pt x="7744" y="2008"/>
                  </a:cubicBezTo>
                  <a:cubicBezTo>
                    <a:pt x="7575" y="2008"/>
                    <a:pt x="7405" y="2026"/>
                    <a:pt x="7245" y="2070"/>
                  </a:cubicBezTo>
                  <a:cubicBezTo>
                    <a:pt x="7183" y="918"/>
                    <a:pt x="6220" y="0"/>
                    <a:pt x="50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41"/>
            <p:cNvSpPr/>
            <p:nvPr/>
          </p:nvSpPr>
          <p:spPr>
            <a:xfrm>
              <a:off x="3471043" y="2109811"/>
              <a:ext cx="395097" cy="268449"/>
            </a:xfrm>
            <a:custGeom>
              <a:avLst/>
              <a:gdLst/>
              <a:ahLst/>
              <a:cxnLst/>
              <a:rect l="l" t="t" r="r" b="b"/>
              <a:pathLst>
                <a:path w="11438" h="7771" extrusionOk="0">
                  <a:moveTo>
                    <a:pt x="6460" y="3855"/>
                  </a:moveTo>
                  <a:cubicBezTo>
                    <a:pt x="7325" y="3855"/>
                    <a:pt x="8155" y="4229"/>
                    <a:pt x="8726" y="4880"/>
                  </a:cubicBezTo>
                  <a:lnTo>
                    <a:pt x="8164" y="5380"/>
                  </a:lnTo>
                  <a:cubicBezTo>
                    <a:pt x="7736" y="4889"/>
                    <a:pt x="7111" y="4613"/>
                    <a:pt x="6460" y="4613"/>
                  </a:cubicBezTo>
                  <a:cubicBezTo>
                    <a:pt x="5818" y="4613"/>
                    <a:pt x="5193" y="4889"/>
                    <a:pt x="4765" y="5380"/>
                  </a:cubicBezTo>
                  <a:lnTo>
                    <a:pt x="4194" y="4880"/>
                  </a:lnTo>
                  <a:cubicBezTo>
                    <a:pt x="4774" y="4229"/>
                    <a:pt x="5594" y="3855"/>
                    <a:pt x="6460" y="3855"/>
                  </a:cubicBezTo>
                  <a:close/>
                  <a:moveTo>
                    <a:pt x="6460" y="5300"/>
                  </a:moveTo>
                  <a:cubicBezTo>
                    <a:pt x="6915" y="5300"/>
                    <a:pt x="7352" y="5496"/>
                    <a:pt x="7655" y="5835"/>
                  </a:cubicBezTo>
                  <a:lnTo>
                    <a:pt x="7084" y="6343"/>
                  </a:lnTo>
                  <a:cubicBezTo>
                    <a:pt x="6924" y="6165"/>
                    <a:pt x="6701" y="6058"/>
                    <a:pt x="6460" y="6058"/>
                  </a:cubicBezTo>
                  <a:cubicBezTo>
                    <a:pt x="6228" y="6058"/>
                    <a:pt x="5996" y="6165"/>
                    <a:pt x="5835" y="6343"/>
                  </a:cubicBezTo>
                  <a:lnTo>
                    <a:pt x="5273" y="5835"/>
                  </a:lnTo>
                  <a:cubicBezTo>
                    <a:pt x="5577" y="5496"/>
                    <a:pt x="6014" y="5300"/>
                    <a:pt x="6460" y="5300"/>
                  </a:cubicBezTo>
                  <a:close/>
                  <a:moveTo>
                    <a:pt x="6380" y="1"/>
                  </a:moveTo>
                  <a:cubicBezTo>
                    <a:pt x="5184" y="1"/>
                    <a:pt x="4212" y="955"/>
                    <a:pt x="4185" y="2142"/>
                  </a:cubicBezTo>
                  <a:cubicBezTo>
                    <a:pt x="4060" y="2124"/>
                    <a:pt x="3935" y="2115"/>
                    <a:pt x="3810" y="2115"/>
                  </a:cubicBezTo>
                  <a:cubicBezTo>
                    <a:pt x="2543" y="2115"/>
                    <a:pt x="1518" y="3141"/>
                    <a:pt x="1518" y="4399"/>
                  </a:cubicBezTo>
                  <a:cubicBezTo>
                    <a:pt x="1518" y="4452"/>
                    <a:pt x="1518" y="4497"/>
                    <a:pt x="1526" y="4550"/>
                  </a:cubicBezTo>
                  <a:cubicBezTo>
                    <a:pt x="679" y="4586"/>
                    <a:pt x="1" y="5291"/>
                    <a:pt x="1" y="6147"/>
                  </a:cubicBezTo>
                  <a:cubicBezTo>
                    <a:pt x="1" y="7030"/>
                    <a:pt x="715" y="7753"/>
                    <a:pt x="1598" y="7771"/>
                  </a:cubicBezTo>
                  <a:lnTo>
                    <a:pt x="8717" y="7771"/>
                  </a:lnTo>
                  <a:cubicBezTo>
                    <a:pt x="9439" y="7771"/>
                    <a:pt x="10126" y="7485"/>
                    <a:pt x="10644" y="6968"/>
                  </a:cubicBezTo>
                  <a:cubicBezTo>
                    <a:pt x="11152" y="6459"/>
                    <a:pt x="11438" y="5773"/>
                    <a:pt x="11438" y="5041"/>
                  </a:cubicBezTo>
                  <a:cubicBezTo>
                    <a:pt x="11438" y="3542"/>
                    <a:pt x="10216" y="2311"/>
                    <a:pt x="8717" y="2311"/>
                  </a:cubicBezTo>
                  <a:lnTo>
                    <a:pt x="8565" y="2311"/>
                  </a:lnTo>
                  <a:lnTo>
                    <a:pt x="8565" y="2186"/>
                  </a:lnTo>
                  <a:cubicBezTo>
                    <a:pt x="8565" y="2186"/>
                    <a:pt x="7584" y="1"/>
                    <a:pt x="63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3" name="Google Shape;423;p41"/>
          <p:cNvGrpSpPr/>
          <p:nvPr/>
        </p:nvGrpSpPr>
        <p:grpSpPr>
          <a:xfrm>
            <a:off x="6915870" y="2084563"/>
            <a:ext cx="405874" cy="437915"/>
            <a:chOff x="5825743" y="1950184"/>
            <a:chExt cx="414199" cy="446898"/>
          </a:xfrm>
        </p:grpSpPr>
        <p:sp>
          <p:nvSpPr>
            <p:cNvPr id="424" name="Google Shape;424;p41"/>
            <p:cNvSpPr/>
            <p:nvPr/>
          </p:nvSpPr>
          <p:spPr>
            <a:xfrm>
              <a:off x="5826365" y="1950184"/>
              <a:ext cx="413577" cy="280471"/>
            </a:xfrm>
            <a:custGeom>
              <a:avLst/>
              <a:gdLst/>
              <a:ahLst/>
              <a:cxnLst/>
              <a:rect l="l" t="t" r="r" b="b"/>
              <a:pathLst>
                <a:path w="11973" h="8119" extrusionOk="0">
                  <a:moveTo>
                    <a:pt x="6665" y="1"/>
                  </a:moveTo>
                  <a:cubicBezTo>
                    <a:pt x="5416" y="1"/>
                    <a:pt x="4399" y="1009"/>
                    <a:pt x="4390" y="2258"/>
                  </a:cubicBezTo>
                  <a:cubicBezTo>
                    <a:pt x="4256" y="2231"/>
                    <a:pt x="4113" y="2222"/>
                    <a:pt x="3970" y="2222"/>
                  </a:cubicBezTo>
                  <a:cubicBezTo>
                    <a:pt x="2659" y="2222"/>
                    <a:pt x="1597" y="3292"/>
                    <a:pt x="1597" y="4604"/>
                  </a:cubicBezTo>
                  <a:cubicBezTo>
                    <a:pt x="1597" y="4657"/>
                    <a:pt x="1597" y="4711"/>
                    <a:pt x="1597" y="4773"/>
                  </a:cubicBezTo>
                  <a:cubicBezTo>
                    <a:pt x="714" y="4800"/>
                    <a:pt x="1" y="5532"/>
                    <a:pt x="1" y="6433"/>
                  </a:cubicBezTo>
                  <a:cubicBezTo>
                    <a:pt x="1" y="7039"/>
                    <a:pt x="331" y="7574"/>
                    <a:pt x="821" y="7860"/>
                  </a:cubicBezTo>
                  <a:lnTo>
                    <a:pt x="4497" y="4185"/>
                  </a:lnTo>
                  <a:lnTo>
                    <a:pt x="8413" y="8101"/>
                  </a:lnTo>
                  <a:lnTo>
                    <a:pt x="9109" y="8119"/>
                  </a:lnTo>
                  <a:lnTo>
                    <a:pt x="9118" y="8119"/>
                  </a:lnTo>
                  <a:cubicBezTo>
                    <a:pt x="9876" y="8119"/>
                    <a:pt x="10599" y="7824"/>
                    <a:pt x="11134" y="7289"/>
                  </a:cubicBezTo>
                  <a:cubicBezTo>
                    <a:pt x="11669" y="6745"/>
                    <a:pt x="11973" y="6031"/>
                    <a:pt x="11973" y="5264"/>
                  </a:cubicBezTo>
                  <a:cubicBezTo>
                    <a:pt x="11973" y="3694"/>
                    <a:pt x="10688" y="2418"/>
                    <a:pt x="9118" y="2418"/>
                  </a:cubicBezTo>
                  <a:lnTo>
                    <a:pt x="8939" y="2418"/>
                  </a:lnTo>
                  <a:lnTo>
                    <a:pt x="8939" y="2284"/>
                  </a:lnTo>
                  <a:cubicBezTo>
                    <a:pt x="8939" y="2284"/>
                    <a:pt x="7922" y="1"/>
                    <a:pt x="66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41"/>
            <p:cNvSpPr/>
            <p:nvPr/>
          </p:nvSpPr>
          <p:spPr>
            <a:xfrm>
              <a:off x="5935764" y="2251579"/>
              <a:ext cx="145182" cy="145504"/>
            </a:xfrm>
            <a:custGeom>
              <a:avLst/>
              <a:gdLst/>
              <a:ahLst/>
              <a:cxnLst/>
              <a:rect l="l" t="t" r="r" b="b"/>
              <a:pathLst>
                <a:path w="4203" h="4212" extrusionOk="0">
                  <a:moveTo>
                    <a:pt x="4202" y="0"/>
                  </a:moveTo>
                  <a:lnTo>
                    <a:pt x="1437" y="250"/>
                  </a:lnTo>
                  <a:lnTo>
                    <a:pt x="1339" y="1187"/>
                  </a:lnTo>
                  <a:lnTo>
                    <a:pt x="340" y="1321"/>
                  </a:lnTo>
                  <a:lnTo>
                    <a:pt x="1" y="4211"/>
                  </a:lnTo>
                  <a:lnTo>
                    <a:pt x="42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41"/>
            <p:cNvSpPr/>
            <p:nvPr/>
          </p:nvSpPr>
          <p:spPr>
            <a:xfrm>
              <a:off x="5828506" y="2300562"/>
              <a:ext cx="92505" cy="93410"/>
            </a:xfrm>
            <a:custGeom>
              <a:avLst/>
              <a:gdLst/>
              <a:ahLst/>
              <a:cxnLst/>
              <a:rect l="l" t="t" r="r" b="b"/>
              <a:pathLst>
                <a:path w="2678" h="2704" extrusionOk="0">
                  <a:moveTo>
                    <a:pt x="2677" y="1"/>
                  </a:moveTo>
                  <a:lnTo>
                    <a:pt x="1" y="349"/>
                  </a:lnTo>
                  <a:lnTo>
                    <a:pt x="2347" y="2704"/>
                  </a:lnTo>
                  <a:lnTo>
                    <a:pt x="26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41"/>
            <p:cNvSpPr/>
            <p:nvPr/>
          </p:nvSpPr>
          <p:spPr>
            <a:xfrm>
              <a:off x="5825743" y="2141557"/>
              <a:ext cx="144871" cy="145193"/>
            </a:xfrm>
            <a:custGeom>
              <a:avLst/>
              <a:gdLst/>
              <a:ahLst/>
              <a:cxnLst/>
              <a:rect l="l" t="t" r="r" b="b"/>
              <a:pathLst>
                <a:path w="4194" h="4203" extrusionOk="0">
                  <a:moveTo>
                    <a:pt x="4194" y="1"/>
                  </a:moveTo>
                  <a:lnTo>
                    <a:pt x="1" y="4202"/>
                  </a:lnTo>
                  <a:lnTo>
                    <a:pt x="3837" y="3703"/>
                  </a:lnTo>
                  <a:lnTo>
                    <a:pt x="41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41"/>
            <p:cNvSpPr/>
            <p:nvPr/>
          </p:nvSpPr>
          <p:spPr>
            <a:xfrm>
              <a:off x="5987856" y="2145253"/>
              <a:ext cx="89085" cy="88781"/>
            </a:xfrm>
            <a:custGeom>
              <a:avLst/>
              <a:gdLst/>
              <a:ahLst/>
              <a:cxnLst/>
              <a:rect l="l" t="t" r="r" b="b"/>
              <a:pathLst>
                <a:path w="2579" h="2570" extrusionOk="0">
                  <a:moveTo>
                    <a:pt x="250" y="1"/>
                  </a:moveTo>
                  <a:lnTo>
                    <a:pt x="0" y="2570"/>
                  </a:lnTo>
                  <a:lnTo>
                    <a:pt x="0" y="2570"/>
                  </a:lnTo>
                  <a:lnTo>
                    <a:pt x="2578" y="2329"/>
                  </a:lnTo>
                  <a:lnTo>
                    <a:pt x="2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9" name="Google Shape;429;p41"/>
          <p:cNvGrpSpPr/>
          <p:nvPr/>
        </p:nvGrpSpPr>
        <p:grpSpPr>
          <a:xfrm>
            <a:off x="405288" y="860250"/>
            <a:ext cx="171000" cy="2360550"/>
            <a:chOff x="5816800" y="2392350"/>
            <a:chExt cx="171000" cy="2360550"/>
          </a:xfrm>
        </p:grpSpPr>
        <p:sp>
          <p:nvSpPr>
            <p:cNvPr id="430" name="Google Shape;430;p41"/>
            <p:cNvSpPr/>
            <p:nvPr/>
          </p:nvSpPr>
          <p:spPr>
            <a:xfrm>
              <a:off x="5816800" y="4683000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31" name="Google Shape;431;p41"/>
            <p:cNvCxnSpPr>
              <a:stCxn id="430" idx="2"/>
              <a:endCxn id="410" idx="1"/>
            </p:cNvCxnSpPr>
            <p:nvPr/>
          </p:nvCxnSpPr>
          <p:spPr>
            <a:xfrm rot="10800000" flipH="1">
              <a:off x="5816800" y="2392350"/>
              <a:ext cx="171000" cy="2325600"/>
            </a:xfrm>
            <a:prstGeom prst="bentConnector3">
              <a:avLst>
                <a:gd name="adj1" fmla="val -139254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32" name="Google Shape;432;p41"/>
          <p:cNvGrpSpPr/>
          <p:nvPr/>
        </p:nvGrpSpPr>
        <p:grpSpPr>
          <a:xfrm flipH="1">
            <a:off x="8567798" y="860250"/>
            <a:ext cx="171000" cy="2360550"/>
            <a:chOff x="5816800" y="2392350"/>
            <a:chExt cx="171000" cy="2360550"/>
          </a:xfrm>
        </p:grpSpPr>
        <p:sp>
          <p:nvSpPr>
            <p:cNvPr id="433" name="Google Shape;433;p41"/>
            <p:cNvSpPr/>
            <p:nvPr/>
          </p:nvSpPr>
          <p:spPr>
            <a:xfrm>
              <a:off x="5816800" y="4683000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34" name="Google Shape;434;p41"/>
            <p:cNvCxnSpPr>
              <a:stCxn id="433" idx="2"/>
              <a:endCxn id="410" idx="3"/>
            </p:cNvCxnSpPr>
            <p:nvPr/>
          </p:nvCxnSpPr>
          <p:spPr>
            <a:xfrm rot="10800000" flipH="1">
              <a:off x="5816800" y="2392350"/>
              <a:ext cx="171000" cy="2325600"/>
            </a:xfrm>
            <a:prstGeom prst="bentConnector3">
              <a:avLst>
                <a:gd name="adj1" fmla="val -139254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435" name="Google Shape;435;p41"/>
          <p:cNvCxnSpPr>
            <a:stCxn id="414" idx="3"/>
            <a:endCxn id="407" idx="3"/>
          </p:cNvCxnSpPr>
          <p:nvPr/>
        </p:nvCxnSpPr>
        <p:spPr>
          <a:xfrm>
            <a:off x="2361950" y="2303525"/>
            <a:ext cx="608100" cy="806700"/>
          </a:xfrm>
          <a:prstGeom prst="bentConnector3">
            <a:avLst>
              <a:gd name="adj1" fmla="val 13914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6" name="Google Shape;436;p41"/>
          <p:cNvCxnSpPr>
            <a:stCxn id="414" idx="1"/>
            <a:endCxn id="407" idx="1"/>
          </p:cNvCxnSpPr>
          <p:nvPr/>
        </p:nvCxnSpPr>
        <p:spPr>
          <a:xfrm flipH="1">
            <a:off x="1080950" y="2303525"/>
            <a:ext cx="607800" cy="806700"/>
          </a:xfrm>
          <a:prstGeom prst="bentConnector3">
            <a:avLst>
              <a:gd name="adj1" fmla="val 139191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7" name="Google Shape;437;p41"/>
          <p:cNvCxnSpPr>
            <a:stCxn id="415" idx="1"/>
            <a:endCxn id="408" idx="1"/>
          </p:cNvCxnSpPr>
          <p:nvPr/>
        </p:nvCxnSpPr>
        <p:spPr>
          <a:xfrm flipH="1">
            <a:off x="3627675" y="2303525"/>
            <a:ext cx="607800" cy="806700"/>
          </a:xfrm>
          <a:prstGeom prst="bentConnector3">
            <a:avLst>
              <a:gd name="adj1" fmla="val 13919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8" name="Google Shape;438;p41"/>
          <p:cNvCxnSpPr>
            <a:stCxn id="415" idx="3"/>
            <a:endCxn id="408" idx="3"/>
          </p:cNvCxnSpPr>
          <p:nvPr/>
        </p:nvCxnSpPr>
        <p:spPr>
          <a:xfrm>
            <a:off x="4908675" y="2303525"/>
            <a:ext cx="608100" cy="806700"/>
          </a:xfrm>
          <a:prstGeom prst="bentConnector3">
            <a:avLst>
              <a:gd name="adj1" fmla="val 13914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9" name="Google Shape;439;p41"/>
          <p:cNvCxnSpPr>
            <a:stCxn id="416" idx="1"/>
            <a:endCxn id="409" idx="1"/>
          </p:cNvCxnSpPr>
          <p:nvPr/>
        </p:nvCxnSpPr>
        <p:spPr>
          <a:xfrm flipH="1">
            <a:off x="6174400" y="2303525"/>
            <a:ext cx="607800" cy="806700"/>
          </a:xfrm>
          <a:prstGeom prst="bentConnector3">
            <a:avLst>
              <a:gd name="adj1" fmla="val 139182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0" name="Google Shape;440;p41"/>
          <p:cNvCxnSpPr>
            <a:stCxn id="416" idx="3"/>
            <a:endCxn id="409" idx="3"/>
          </p:cNvCxnSpPr>
          <p:nvPr/>
        </p:nvCxnSpPr>
        <p:spPr>
          <a:xfrm>
            <a:off x="7455400" y="2303525"/>
            <a:ext cx="608100" cy="806700"/>
          </a:xfrm>
          <a:prstGeom prst="bentConnector3">
            <a:avLst>
              <a:gd name="adj1" fmla="val 139155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1" name="Google Shape;441;p41"/>
          <p:cNvSpPr txBox="1">
            <a:spLocks noGrp="1"/>
          </p:cNvSpPr>
          <p:nvPr>
            <p:ph type="title"/>
          </p:nvPr>
        </p:nvSpPr>
        <p:spPr>
          <a:xfrm>
            <a:off x="720075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2400">
                <a:solidFill>
                  <a:schemeClr val="dk1"/>
                </a:solidFill>
              </a:rPr>
              <a:t>THREE WAYS YOU GET OVERCHARGED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56"/>
          <p:cNvSpPr/>
          <p:nvPr/>
        </p:nvSpPr>
        <p:spPr>
          <a:xfrm>
            <a:off x="29625" y="1192674"/>
            <a:ext cx="4460400" cy="37881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5" name="Google Shape;975;p56"/>
          <p:cNvSpPr/>
          <p:nvPr/>
        </p:nvSpPr>
        <p:spPr>
          <a:xfrm>
            <a:off x="4291875" y="339536"/>
            <a:ext cx="4624500" cy="39276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6" name="Google Shape;976;p56"/>
          <p:cNvSpPr/>
          <p:nvPr/>
        </p:nvSpPr>
        <p:spPr>
          <a:xfrm>
            <a:off x="5031825" y="1348777"/>
            <a:ext cx="3144600" cy="4848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7" name="Google Shape;977;p56"/>
          <p:cNvSpPr txBox="1">
            <a:spLocks noGrp="1"/>
          </p:cNvSpPr>
          <p:nvPr>
            <p:ph type="subTitle" idx="1"/>
          </p:nvPr>
        </p:nvSpPr>
        <p:spPr>
          <a:xfrm>
            <a:off x="4986188" y="1840002"/>
            <a:ext cx="3235800" cy="16130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 sz="1500" dirty="0"/>
              <a:t>A Lambda web page reading DynamoDB live.</a:t>
            </a:r>
          </a:p>
          <a:p>
            <a:pPr marL="0" lvl="0" indent="0"/>
            <a:r>
              <a:rPr lang="en" sz="1500" dirty="0"/>
              <a:t>Link: </a:t>
            </a:r>
            <a:r>
              <a:rPr lang="en-US" sz="1500" dirty="0"/>
              <a:t>https://iur7snxolluoqpz2w6rkfdanmi0qqfxq.lambda-url.ap-south-1.on.aws/</a:t>
            </a:r>
            <a:endParaRPr dirty="0"/>
          </a:p>
        </p:txBody>
      </p:sp>
      <p:grpSp>
        <p:nvGrpSpPr>
          <p:cNvPr id="978" name="Google Shape;978;p56"/>
          <p:cNvGrpSpPr/>
          <p:nvPr/>
        </p:nvGrpSpPr>
        <p:grpSpPr>
          <a:xfrm>
            <a:off x="990225" y="1260651"/>
            <a:ext cx="3410334" cy="2774597"/>
            <a:chOff x="990225" y="1260651"/>
            <a:chExt cx="3410334" cy="2774597"/>
          </a:xfrm>
        </p:grpSpPr>
        <p:sp>
          <p:nvSpPr>
            <p:cNvPr id="979" name="Google Shape;979;p56"/>
            <p:cNvSpPr/>
            <p:nvPr/>
          </p:nvSpPr>
          <p:spPr>
            <a:xfrm>
              <a:off x="2123801" y="3622106"/>
              <a:ext cx="1143193" cy="413142"/>
            </a:xfrm>
            <a:custGeom>
              <a:avLst/>
              <a:gdLst/>
              <a:ahLst/>
              <a:cxnLst/>
              <a:rect l="l" t="t" r="r" b="b"/>
              <a:pathLst>
                <a:path w="55441" h="20036" extrusionOk="0">
                  <a:moveTo>
                    <a:pt x="0" y="20035"/>
                  </a:moveTo>
                  <a:lnTo>
                    <a:pt x="0" y="17982"/>
                  </a:lnTo>
                  <a:lnTo>
                    <a:pt x="6526" y="17184"/>
                  </a:lnTo>
                  <a:lnTo>
                    <a:pt x="11030" y="1"/>
                  </a:lnTo>
                  <a:lnTo>
                    <a:pt x="44410" y="1"/>
                  </a:lnTo>
                  <a:lnTo>
                    <a:pt x="48911" y="17184"/>
                  </a:lnTo>
                  <a:lnTo>
                    <a:pt x="55441" y="17982"/>
                  </a:lnTo>
                  <a:lnTo>
                    <a:pt x="55441" y="2003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56"/>
            <p:cNvSpPr/>
            <p:nvPr/>
          </p:nvSpPr>
          <p:spPr>
            <a:xfrm>
              <a:off x="990237" y="1260651"/>
              <a:ext cx="3410321" cy="2065402"/>
            </a:xfrm>
            <a:custGeom>
              <a:avLst/>
              <a:gdLst/>
              <a:ahLst/>
              <a:cxnLst/>
              <a:rect l="l" t="t" r="r" b="b"/>
              <a:pathLst>
                <a:path w="165389" h="100165" extrusionOk="0">
                  <a:moveTo>
                    <a:pt x="1" y="100165"/>
                  </a:moveTo>
                  <a:lnTo>
                    <a:pt x="1" y="3726"/>
                  </a:lnTo>
                  <a:cubicBezTo>
                    <a:pt x="1" y="1669"/>
                    <a:pt x="1670" y="0"/>
                    <a:pt x="3728" y="0"/>
                  </a:cubicBezTo>
                  <a:lnTo>
                    <a:pt x="161661" y="0"/>
                  </a:lnTo>
                  <a:cubicBezTo>
                    <a:pt x="163721" y="0"/>
                    <a:pt x="165388" y="1669"/>
                    <a:pt x="165388" y="3726"/>
                  </a:cubicBezTo>
                  <a:lnTo>
                    <a:pt x="165388" y="100165"/>
                  </a:lnTo>
                  <a:close/>
                </a:path>
              </a:pathLst>
            </a:custGeom>
            <a:gradFill>
              <a:gsLst>
                <a:gs pos="0">
                  <a:srgbClr val="00BCC2"/>
                </a:gs>
                <a:gs pos="100000">
                  <a:srgbClr val="B2E4C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56"/>
            <p:cNvSpPr/>
            <p:nvPr/>
          </p:nvSpPr>
          <p:spPr>
            <a:xfrm>
              <a:off x="990225" y="3250054"/>
              <a:ext cx="3410321" cy="383348"/>
            </a:xfrm>
            <a:custGeom>
              <a:avLst/>
              <a:gdLst/>
              <a:ahLst/>
              <a:cxnLst/>
              <a:rect l="l" t="t" r="r" b="b"/>
              <a:pathLst>
                <a:path w="165389" h="14909" extrusionOk="0">
                  <a:moveTo>
                    <a:pt x="161661" y="14908"/>
                  </a:moveTo>
                  <a:lnTo>
                    <a:pt x="3728" y="14908"/>
                  </a:lnTo>
                  <a:cubicBezTo>
                    <a:pt x="1670" y="14908"/>
                    <a:pt x="1" y="13241"/>
                    <a:pt x="1" y="11182"/>
                  </a:cubicBezTo>
                  <a:lnTo>
                    <a:pt x="1" y="1"/>
                  </a:lnTo>
                  <a:lnTo>
                    <a:pt x="165388" y="1"/>
                  </a:lnTo>
                  <a:lnTo>
                    <a:pt x="165388" y="11182"/>
                  </a:lnTo>
                  <a:cubicBezTo>
                    <a:pt x="165388" y="13241"/>
                    <a:pt x="163719" y="14908"/>
                    <a:pt x="161661" y="14908"/>
                  </a:cubicBezTo>
                  <a:close/>
                </a:path>
              </a:pathLst>
            </a:custGeom>
            <a:gradFill>
              <a:gsLst>
                <a:gs pos="0">
                  <a:srgbClr val="00BCC2"/>
                </a:gs>
                <a:gs pos="100000">
                  <a:srgbClr val="B2E4C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983" name="Google Shape;983;p56"/>
          <p:cNvCxnSpPr>
            <a:cxnSpLocks/>
            <a:stCxn id="976" idx="1"/>
            <a:endCxn id="977" idx="1"/>
          </p:cNvCxnSpPr>
          <p:nvPr/>
        </p:nvCxnSpPr>
        <p:spPr>
          <a:xfrm rot="10800000" flipV="1">
            <a:off x="4986189" y="1591176"/>
            <a:ext cx="45637" cy="1055369"/>
          </a:xfrm>
          <a:prstGeom prst="bentConnector3">
            <a:avLst>
              <a:gd name="adj1" fmla="val 600909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4" name="Google Shape;984;p56"/>
          <p:cNvCxnSpPr>
            <a:cxnSpLocks/>
            <a:stCxn id="976" idx="3"/>
            <a:endCxn id="977" idx="3"/>
          </p:cNvCxnSpPr>
          <p:nvPr/>
        </p:nvCxnSpPr>
        <p:spPr>
          <a:xfrm>
            <a:off x="8176425" y="1591177"/>
            <a:ext cx="45563" cy="1055369"/>
          </a:xfrm>
          <a:prstGeom prst="bentConnector3">
            <a:avLst>
              <a:gd name="adj1" fmla="val 601723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85" name="Google Shape;985;p56"/>
          <p:cNvGrpSpPr/>
          <p:nvPr/>
        </p:nvGrpSpPr>
        <p:grpSpPr>
          <a:xfrm flipH="1">
            <a:off x="2660434" y="3085218"/>
            <a:ext cx="3994365" cy="1323258"/>
            <a:chOff x="2048410" y="4920815"/>
            <a:chExt cx="3943653" cy="955385"/>
          </a:xfrm>
        </p:grpSpPr>
        <p:sp>
          <p:nvSpPr>
            <p:cNvPr id="986" name="Google Shape;986;p56"/>
            <p:cNvSpPr/>
            <p:nvPr/>
          </p:nvSpPr>
          <p:spPr>
            <a:xfrm>
              <a:off x="5922163" y="5806300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87" name="Google Shape;987;p56"/>
            <p:cNvCxnSpPr>
              <a:cxnSpLocks/>
              <a:stCxn id="986" idx="2"/>
              <a:endCxn id="977" idx="2"/>
            </p:cNvCxnSpPr>
            <p:nvPr/>
          </p:nvCxnSpPr>
          <p:spPr>
            <a:xfrm flipH="1" flipV="1">
              <a:off x="2048410" y="4920815"/>
              <a:ext cx="3873753" cy="920435"/>
            </a:xfrm>
            <a:prstGeom prst="bentConnector2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88" name="Google Shape;988;p56"/>
          <p:cNvSpPr txBox="1">
            <a:spLocks noGrp="1"/>
          </p:cNvSpPr>
          <p:nvPr>
            <p:ph type="title"/>
          </p:nvPr>
        </p:nvSpPr>
        <p:spPr>
          <a:xfrm>
            <a:off x="5121925" y="1267302"/>
            <a:ext cx="2964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2400" dirty="0">
                <a:solidFill>
                  <a:schemeClr val="dk1"/>
                </a:solidFill>
              </a:rPr>
              <a:t>LIVE DASHBOARD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CD35BB7-C800-135D-ACD9-3EB368B146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42" t="18621" r="9748" b="11603"/>
          <a:stretch>
            <a:fillRect/>
          </a:stretch>
        </p:blipFill>
        <p:spPr>
          <a:xfrm>
            <a:off x="1070472" y="1454251"/>
            <a:ext cx="3131203" cy="1736801"/>
          </a:xfrm>
          <a:prstGeom prst="rect">
            <a:avLst/>
          </a:prstGeom>
          <a:ln w="15875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58"/>
          <p:cNvSpPr/>
          <p:nvPr/>
        </p:nvSpPr>
        <p:spPr>
          <a:xfrm>
            <a:off x="4240375" y="476099"/>
            <a:ext cx="4624500" cy="41913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4" name="Google Shape;1014;p58"/>
          <p:cNvSpPr/>
          <p:nvPr/>
        </p:nvSpPr>
        <p:spPr>
          <a:xfrm>
            <a:off x="709375" y="2057400"/>
            <a:ext cx="3442200" cy="7944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30" name="Google Shape;103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5713" y="857775"/>
            <a:ext cx="4393823" cy="3337801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p58"/>
          <p:cNvSpPr txBox="1">
            <a:spLocks noGrp="1"/>
          </p:cNvSpPr>
          <p:nvPr>
            <p:ph type="title"/>
          </p:nvPr>
        </p:nvSpPr>
        <p:spPr>
          <a:xfrm>
            <a:off x="857375" y="2020824"/>
            <a:ext cx="3146100" cy="87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THANK YOU!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oud Engineer CV by Slidesgo">
  <a:themeElements>
    <a:clrScheme name="Simple Light">
      <a:dk1>
        <a:srgbClr val="00000D"/>
      </a:dk1>
      <a:lt1>
        <a:srgbClr val="FFFFFF"/>
      </a:lt1>
      <a:dk2>
        <a:srgbClr val="6EEDDA"/>
      </a:dk2>
      <a:lt2>
        <a:srgbClr val="4098FD"/>
      </a:lt2>
      <a:accent1>
        <a:srgbClr val="584EFD"/>
      </a:accent1>
      <a:accent2>
        <a:srgbClr val="251AC0"/>
      </a:accent2>
      <a:accent3>
        <a:srgbClr val="2A118E"/>
      </a:accent3>
      <a:accent4>
        <a:srgbClr val="150248"/>
      </a:accent4>
      <a:accent5>
        <a:srgbClr val="6EEDDA"/>
      </a:accent5>
      <a:accent6>
        <a:srgbClr val="4098FD"/>
      </a:accent6>
      <a:hlink>
        <a:srgbClr val="6EEDD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imple Light">
    <a:dk1>
      <a:srgbClr val="00000D"/>
    </a:dk1>
    <a:lt1>
      <a:srgbClr val="FFFFFF"/>
    </a:lt1>
    <a:dk2>
      <a:srgbClr val="6EEDDA"/>
    </a:dk2>
    <a:lt2>
      <a:srgbClr val="4098FD"/>
    </a:lt2>
    <a:accent1>
      <a:srgbClr val="584EFD"/>
    </a:accent1>
    <a:accent2>
      <a:srgbClr val="251AC0"/>
    </a:accent2>
    <a:accent3>
      <a:srgbClr val="2A118E"/>
    </a:accent3>
    <a:accent4>
      <a:srgbClr val="150248"/>
    </a:accent4>
    <a:accent5>
      <a:srgbClr val="6EEDDA"/>
    </a:accent5>
    <a:accent6>
      <a:srgbClr val="4098FD"/>
    </a:accent6>
    <a:hlink>
      <a:srgbClr val="6EEDDA"/>
    </a:hlink>
    <a:folHlink>
      <a:srgbClr val="0097A7"/>
    </a:folHlink>
  </a:clrScheme>
</a:themeOverride>
</file>

<file path=ppt/theme/themeOverride2.xml><?xml version="1.0" encoding="utf-8"?>
<a:themeOverride xmlns:a="http://schemas.openxmlformats.org/drawingml/2006/main">
  <a:clrScheme name="Simple Light">
    <a:dk1>
      <a:srgbClr val="00000D"/>
    </a:dk1>
    <a:lt1>
      <a:srgbClr val="FFFFFF"/>
    </a:lt1>
    <a:dk2>
      <a:srgbClr val="6EEDDA"/>
    </a:dk2>
    <a:lt2>
      <a:srgbClr val="4098FD"/>
    </a:lt2>
    <a:accent1>
      <a:srgbClr val="584EFD"/>
    </a:accent1>
    <a:accent2>
      <a:srgbClr val="251AC0"/>
    </a:accent2>
    <a:accent3>
      <a:srgbClr val="2A118E"/>
    </a:accent3>
    <a:accent4>
      <a:srgbClr val="150248"/>
    </a:accent4>
    <a:accent5>
      <a:srgbClr val="6EEDDA"/>
    </a:accent5>
    <a:accent6>
      <a:srgbClr val="4098FD"/>
    </a:accent6>
    <a:hlink>
      <a:srgbClr val="6EEDDA"/>
    </a:hlink>
    <a:folHlink>
      <a:srgbClr val="0097A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382</Words>
  <Application>Microsoft Macintosh PowerPoint</Application>
  <PresentationFormat>On-screen Show (16:9)</PresentationFormat>
  <Paragraphs>89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Catamaran</vt:lpstr>
      <vt:lpstr>Roboto Condensed Light</vt:lpstr>
      <vt:lpstr>Fugaz One</vt:lpstr>
      <vt:lpstr>Proxima Nova Semibold</vt:lpstr>
      <vt:lpstr>Proxima Nova</vt:lpstr>
      <vt:lpstr>Cloud Engineer CV by Slidesgo</vt:lpstr>
      <vt:lpstr>Slidesgo Final Pages</vt:lpstr>
      <vt:lpstr>PRICE DRIFT DETECTOR</vt:lpstr>
      <vt:lpstr>THE PROBLEM</vt:lpstr>
      <vt:lpstr>INTRODUCTION</vt:lpstr>
      <vt:lpstr>HOW IT WORKS</vt:lpstr>
      <vt:lpstr>EventBridge</vt:lpstr>
      <vt:lpstr>AMAZON S3</vt:lpstr>
      <vt:lpstr>AWS LAMBDA</vt:lpstr>
      <vt:lpstr>EVENTBRIDGE</vt:lpstr>
      <vt:lpstr>DYNAMODB</vt:lpstr>
      <vt:lpstr>AMAZON ATHENA</vt:lpstr>
      <vt:lpstr>AMAZON SNS</vt:lpstr>
      <vt:lpstr>CLOUDWATCH</vt:lpstr>
      <vt:lpstr>AWS IAM</vt:lpstr>
      <vt:lpstr>Stealth hike</vt:lpstr>
      <vt:lpstr>LIVE DASHBOARD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SANAZ KATPITIA - 70382200007</cp:lastModifiedBy>
  <cp:revision>5</cp:revision>
  <dcterms:modified xsi:type="dcterms:W3CDTF">2026-10-21T15:59:19Z</dcterms:modified>
</cp:coreProperties>
</file>